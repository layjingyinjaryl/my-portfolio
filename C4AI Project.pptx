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22"/>
  </p:notesMasterIdLst>
  <p:sldIdLst>
    <p:sldId id="256" r:id="rId2"/>
    <p:sldId id="258" r:id="rId3"/>
    <p:sldId id="257" r:id="rId4"/>
    <p:sldId id="259" r:id="rId5"/>
    <p:sldId id="273" r:id="rId6"/>
    <p:sldId id="274" r:id="rId7"/>
    <p:sldId id="272" r:id="rId8"/>
    <p:sldId id="269" r:id="rId9"/>
    <p:sldId id="270" r:id="rId10"/>
    <p:sldId id="271" r:id="rId11"/>
    <p:sldId id="275" r:id="rId12"/>
    <p:sldId id="276" r:id="rId13"/>
    <p:sldId id="277" r:id="rId14"/>
    <p:sldId id="261" r:id="rId15"/>
    <p:sldId id="262" r:id="rId16"/>
    <p:sldId id="267" r:id="rId17"/>
    <p:sldId id="268" r:id="rId18"/>
    <p:sldId id="264" r:id="rId19"/>
    <p:sldId id="266" r:id="rId20"/>
    <p:sldId id="26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9D0FF3-9F2F-4F04-BC42-362734672C74}" v="576" dt="2025-09-08T17:03:03.7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6BA42-37F8-469B-AB5C-DF9ECE998039}" type="datetimeFigureOut">
              <a:rPr lang="en-SG" smtClean="0"/>
              <a:t>6/7/2026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E6532-33A5-465A-A574-41EBB97ECC3C}" type="slidenum">
              <a:rPr lang="en-SG" smtClean="0"/>
              <a:t>‹#›</a:t>
            </a:fld>
            <a:endParaRPr lang="en-SG"/>
          </a:p>
        </p:txBody>
      </p:sp>
    </p:spTree>
    <p:extLst>
      <p:ext uri="{BB962C8B-B14F-4D97-AF65-F5344CB8AC3E}">
        <p14:creationId xmlns:p14="http://schemas.microsoft.com/office/powerpoint/2010/main" val="3770886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0C50CD-E178-4744-9B35-B2F624D6C5E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84617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0C50CD-E178-4744-9B35-B2F624D6C5E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77487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08125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0C50CD-E178-4744-9B35-B2F624D6C5E9}"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9908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0C50CD-E178-4744-9B35-B2F624D6C5E9}"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27810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80C50CD-E178-4744-9B35-B2F624D6C5E9}"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32239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C50CD-E178-4744-9B35-B2F624D6C5E9}" type="datetimeFigureOut">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62873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65449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613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699926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4079691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764034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06447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95639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0C50CD-E178-4744-9B35-B2F624D6C5E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45465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0C50CD-E178-4744-9B35-B2F624D6C5E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42476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80C50CD-E178-4744-9B35-B2F624D6C5E9}" type="datetimeFigureOut">
              <a:rPr lang="en-US" smtClean="0"/>
              <a:pPr/>
              <a:t>7/6/2026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318822968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descr="Abstract design of flower petals in pastel">
            <a:extLst>
              <a:ext uri="{FF2B5EF4-FFF2-40B4-BE49-F238E27FC236}">
                <a16:creationId xmlns:a16="http://schemas.microsoft.com/office/drawing/2014/main" id="{07675A43-52C4-1204-F6E7-E4C1BAE3E101}"/>
              </a:ext>
            </a:extLst>
          </p:cNvPr>
          <p:cNvPicPr>
            <a:picLocks noChangeAspect="1"/>
          </p:cNvPicPr>
          <p:nvPr/>
        </p:nvPicPr>
        <p:blipFill>
          <a:blip r:embed="rId2">
            <a:duotone>
              <a:schemeClr val="accent1">
                <a:shade val="45000"/>
                <a:satMod val="135000"/>
              </a:schemeClr>
              <a:prstClr val="white"/>
            </a:duotone>
          </a:blip>
          <a:srcRect l="9091" t="21929"/>
          <a:stretch>
            <a:fillRect/>
          </a:stretch>
        </p:blipFill>
        <p:spPr>
          <a:xfrm>
            <a:off x="1" y="10"/>
            <a:ext cx="12191999" cy="6857990"/>
          </a:xfrm>
          <a:prstGeom prst="rect">
            <a:avLst/>
          </a:prstGeom>
        </p:spPr>
      </p:pic>
      <p:sp>
        <p:nvSpPr>
          <p:cNvPr id="21" name="Isosceles Triangle 20">
            <a:extLst>
              <a:ext uri="{FF2B5EF4-FFF2-40B4-BE49-F238E27FC236}">
                <a16:creationId xmlns:a16="http://schemas.microsoft.com/office/drawing/2014/main" id="{F5F0CD5C-72F3-4090-8A69-8E15CB432A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3" name="Parallelogram 22">
            <a:extLst>
              <a:ext uri="{FF2B5EF4-FFF2-40B4-BE49-F238E27FC236}">
                <a16:creationId xmlns:a16="http://schemas.microsoft.com/office/drawing/2014/main" id="{217496A2-9394-4FB7-BA0E-717D2D2E7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3800" y="0"/>
            <a:ext cx="7315200" cy="6858000"/>
          </a:xfrm>
          <a:prstGeom prst="parallelogram">
            <a:avLst>
              <a:gd name="adj" fmla="val 15925"/>
            </a:avLst>
          </a:prstGeom>
          <a:solidFill>
            <a:schemeClr val="bg1">
              <a:alpha val="8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D02CF681-4765-4E88-802F-B2474DCD51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D57B2BA-243C-45C7-A5D8-46CA71943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67374FB5-CBB7-46FF-95B5-2251BC685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1" name="Rectangle 25">
            <a:extLst>
              <a:ext uri="{FF2B5EF4-FFF2-40B4-BE49-F238E27FC236}">
                <a16:creationId xmlns:a16="http://schemas.microsoft.com/office/drawing/2014/main" id="{34BCEAB7-D9E0-40A4-9254-8593BD346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3" name="Isosceles Triangle 32">
            <a:extLst>
              <a:ext uri="{FF2B5EF4-FFF2-40B4-BE49-F238E27FC236}">
                <a16:creationId xmlns:a16="http://schemas.microsoft.com/office/drawing/2014/main" id="{D567A354-BB63-405C-8E5F-2F510E67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906CA38F-AEB5-EFC7-7D81-764403F08B6E}"/>
              </a:ext>
            </a:extLst>
          </p:cNvPr>
          <p:cNvSpPr>
            <a:spLocks noGrp="1"/>
          </p:cNvSpPr>
          <p:nvPr>
            <p:ph type="ctrTitle"/>
          </p:nvPr>
        </p:nvSpPr>
        <p:spPr>
          <a:xfrm>
            <a:off x="3416198" y="1678665"/>
            <a:ext cx="5857805" cy="2369131"/>
          </a:xfrm>
        </p:spPr>
        <p:txBody>
          <a:bodyPr>
            <a:normAutofit/>
          </a:bodyPr>
          <a:lstStyle/>
          <a:p>
            <a:r>
              <a:rPr lang="en-SG"/>
              <a:t>C4AI Presentation</a:t>
            </a:r>
          </a:p>
        </p:txBody>
      </p:sp>
      <p:sp>
        <p:nvSpPr>
          <p:cNvPr id="3" name="Subtitle 2">
            <a:extLst>
              <a:ext uri="{FF2B5EF4-FFF2-40B4-BE49-F238E27FC236}">
                <a16:creationId xmlns:a16="http://schemas.microsoft.com/office/drawing/2014/main" id="{2F5E1EAC-939F-FB3A-8AEC-E87F4C8C02F4}"/>
              </a:ext>
            </a:extLst>
          </p:cNvPr>
          <p:cNvSpPr>
            <a:spLocks noGrp="1"/>
          </p:cNvSpPr>
          <p:nvPr>
            <p:ph type="subTitle" idx="1"/>
          </p:nvPr>
        </p:nvSpPr>
        <p:spPr>
          <a:xfrm>
            <a:off x="4788276" y="4050832"/>
            <a:ext cx="4485725" cy="1096899"/>
          </a:xfrm>
        </p:spPr>
        <p:txBody>
          <a:bodyPr>
            <a:normAutofit/>
          </a:bodyPr>
          <a:lstStyle/>
          <a:p>
            <a:r>
              <a:rPr lang="en-SG"/>
              <a:t>By Rahman, Jaryl, Kiat Boon, Yan Ruey</a:t>
            </a:r>
          </a:p>
        </p:txBody>
      </p:sp>
      <p:sp>
        <p:nvSpPr>
          <p:cNvPr id="35" name="Rectangle 27">
            <a:extLst>
              <a:ext uri="{FF2B5EF4-FFF2-40B4-BE49-F238E27FC236}">
                <a16:creationId xmlns:a16="http://schemas.microsoft.com/office/drawing/2014/main" id="{9185A8D7-2F20-4F7A-97BE-21DB1654C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7" name="Rectangle 28">
            <a:extLst>
              <a:ext uri="{FF2B5EF4-FFF2-40B4-BE49-F238E27FC236}">
                <a16:creationId xmlns:a16="http://schemas.microsoft.com/office/drawing/2014/main" id="{CB65BD56-22B3-4E13-BFCA-B8E8BEB92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9" name="Rectangle 29">
            <a:extLst>
              <a:ext uri="{FF2B5EF4-FFF2-40B4-BE49-F238E27FC236}">
                <a16:creationId xmlns:a16="http://schemas.microsoft.com/office/drawing/2014/main" id="{6790ED68-BCA0-4247-A72F-1CB85DF068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1" name="Isosceles Triangle 40">
            <a:extLst>
              <a:ext uri="{FF2B5EF4-FFF2-40B4-BE49-F238E27FC236}">
                <a16:creationId xmlns:a16="http://schemas.microsoft.com/office/drawing/2014/main" id="{DD0F2B3F-DC55-4FA7-B667-1ACD07920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Tree>
    <p:extLst>
      <p:ext uri="{BB962C8B-B14F-4D97-AF65-F5344CB8AC3E}">
        <p14:creationId xmlns:p14="http://schemas.microsoft.com/office/powerpoint/2010/main" val="2101615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5A976-BE59-FA76-6614-1E81216C0F13}"/>
              </a:ext>
            </a:extLst>
          </p:cNvPr>
          <p:cNvSpPr>
            <a:spLocks noGrp="1"/>
          </p:cNvSpPr>
          <p:nvPr>
            <p:ph type="title"/>
          </p:nvPr>
        </p:nvSpPr>
        <p:spPr>
          <a:xfrm>
            <a:off x="677334" y="353392"/>
            <a:ext cx="8596668" cy="702366"/>
          </a:xfrm>
        </p:spPr>
        <p:txBody>
          <a:bodyPr/>
          <a:lstStyle/>
          <a:p>
            <a:r>
              <a:rPr lang="en-US" u="sng">
                <a:solidFill>
                  <a:schemeClr val="tx1"/>
                </a:solidFill>
              </a:rPr>
              <a:t>Tables of Contents:</a:t>
            </a:r>
          </a:p>
        </p:txBody>
      </p:sp>
      <p:sp>
        <p:nvSpPr>
          <p:cNvPr id="3" name="Content Placeholder 2">
            <a:extLst>
              <a:ext uri="{FF2B5EF4-FFF2-40B4-BE49-F238E27FC236}">
                <a16:creationId xmlns:a16="http://schemas.microsoft.com/office/drawing/2014/main" id="{2920F881-3BE7-11B4-2FCB-C05D5D223549}"/>
              </a:ext>
            </a:extLst>
          </p:cNvPr>
          <p:cNvSpPr>
            <a:spLocks noGrp="1"/>
          </p:cNvSpPr>
          <p:nvPr>
            <p:ph idx="1"/>
          </p:nvPr>
        </p:nvSpPr>
        <p:spPr>
          <a:xfrm>
            <a:off x="677334" y="1188279"/>
            <a:ext cx="8596668" cy="5031754"/>
          </a:xfrm>
        </p:spPr>
        <p:txBody>
          <a:bodyPr vert="horz" lIns="91440" tIns="45720" rIns="91440" bIns="45720" rtlCol="0" anchor="t">
            <a:noAutofit/>
          </a:bodyPr>
          <a:lstStyle/>
          <a:p>
            <a:r>
              <a:rPr lang="en-US" sz="2400">
                <a:solidFill>
                  <a:schemeClr val="tx1"/>
                </a:solidFill>
              </a:rPr>
              <a:t>Introduction</a:t>
            </a:r>
          </a:p>
          <a:p>
            <a:r>
              <a:rPr lang="en-US" sz="2400">
                <a:solidFill>
                  <a:schemeClr val="tx1"/>
                </a:solidFill>
              </a:rPr>
              <a:t>What to expect from our presentation?</a:t>
            </a:r>
          </a:p>
          <a:p>
            <a:r>
              <a:rPr lang="en-US" sz="2400">
                <a:solidFill>
                  <a:schemeClr val="tx1"/>
                </a:solidFill>
              </a:rPr>
              <a:t>What our pipeline looks like?</a:t>
            </a:r>
          </a:p>
          <a:p>
            <a:r>
              <a:rPr lang="en-US" sz="2400">
                <a:solidFill>
                  <a:schemeClr val="tx1"/>
                </a:solidFill>
              </a:rPr>
              <a:t>Results of our Pipeline</a:t>
            </a:r>
          </a:p>
          <a:p>
            <a:r>
              <a:rPr lang="en-US" sz="2400">
                <a:solidFill>
                  <a:schemeClr val="tx1"/>
                </a:solidFill>
              </a:rPr>
              <a:t>Modeling results</a:t>
            </a:r>
          </a:p>
          <a:p>
            <a:r>
              <a:rPr lang="en-US" sz="2400">
                <a:solidFill>
                  <a:schemeClr val="tx1"/>
                </a:solidFill>
              </a:rPr>
              <a:t>Evaluation results</a:t>
            </a:r>
          </a:p>
          <a:p>
            <a:r>
              <a:rPr lang="en-US" sz="2400">
                <a:solidFill>
                  <a:schemeClr val="tx1"/>
                </a:solidFill>
              </a:rPr>
              <a:t>Comparison</a:t>
            </a:r>
          </a:p>
          <a:p>
            <a:r>
              <a:rPr lang="en-US" sz="2400">
                <a:solidFill>
                  <a:schemeClr val="tx1"/>
                </a:solidFill>
              </a:rPr>
              <a:t>Summary</a:t>
            </a:r>
          </a:p>
          <a:p>
            <a:r>
              <a:rPr lang="en-US" sz="2400">
                <a:solidFill>
                  <a:schemeClr val="tx1"/>
                </a:solidFill>
              </a:rPr>
              <a:t>Who did what?</a:t>
            </a:r>
          </a:p>
          <a:p>
            <a:r>
              <a:rPr lang="en-US" sz="2400">
                <a:solidFill>
                  <a:schemeClr val="tx1"/>
                </a:solidFill>
              </a:rPr>
              <a:t>End</a:t>
            </a:r>
          </a:p>
          <a:p>
            <a:endParaRPr lang="en-US" sz="3600">
              <a:solidFill>
                <a:schemeClr val="tx1"/>
              </a:solidFill>
            </a:endParaRPr>
          </a:p>
          <a:p>
            <a:endParaRPr lang="en-US" sz="3600">
              <a:solidFill>
                <a:schemeClr val="tx1"/>
              </a:solidFill>
            </a:endParaRPr>
          </a:p>
        </p:txBody>
      </p:sp>
    </p:spTree>
    <p:extLst>
      <p:ext uri="{BB962C8B-B14F-4D97-AF65-F5344CB8AC3E}">
        <p14:creationId xmlns:p14="http://schemas.microsoft.com/office/powerpoint/2010/main" val="292256270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272F29-0657-C6A9-9F93-931FF7CF1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E7929-4E6A-0E1E-8060-289FAC701C12}"/>
              </a:ext>
            </a:extLst>
          </p:cNvPr>
          <p:cNvSpPr>
            <a:spLocks noGrp="1"/>
          </p:cNvSpPr>
          <p:nvPr>
            <p:ph type="ctrTitle"/>
          </p:nvPr>
        </p:nvSpPr>
        <p:spPr>
          <a:xfrm>
            <a:off x="1189986" y="443822"/>
            <a:ext cx="9823073" cy="665953"/>
          </a:xfrm>
        </p:spPr>
        <p:txBody>
          <a:bodyPr>
            <a:noAutofit/>
          </a:bodyPr>
          <a:lstStyle/>
          <a:p>
            <a:pPr algn="l">
              <a:lnSpc>
                <a:spcPct val="90000"/>
              </a:lnSpc>
            </a:pPr>
            <a:r>
              <a:rPr lang="en-SG" sz="3800"/>
              <a:t>What to expect from this presentation?</a:t>
            </a:r>
          </a:p>
        </p:txBody>
      </p:sp>
      <p:sp>
        <p:nvSpPr>
          <p:cNvPr id="3" name="Subtitle 2">
            <a:extLst>
              <a:ext uri="{FF2B5EF4-FFF2-40B4-BE49-F238E27FC236}">
                <a16:creationId xmlns:a16="http://schemas.microsoft.com/office/drawing/2014/main" id="{DD6A3274-230D-EDD2-F442-FD9774051C0C}"/>
              </a:ext>
            </a:extLst>
          </p:cNvPr>
          <p:cNvSpPr>
            <a:spLocks noGrp="1"/>
          </p:cNvSpPr>
          <p:nvPr>
            <p:ph type="subTitle" idx="1"/>
          </p:nvPr>
        </p:nvSpPr>
        <p:spPr>
          <a:xfrm>
            <a:off x="1289401" y="1561003"/>
            <a:ext cx="8425332" cy="4647292"/>
          </a:xfrm>
          <a:ln>
            <a:solidFill>
              <a:schemeClr val="tx1"/>
            </a:solidFill>
          </a:ln>
        </p:spPr>
        <p:txBody>
          <a:bodyPr>
            <a:normAutofit/>
          </a:bodyPr>
          <a:lstStyle/>
          <a:p>
            <a:pPr marL="285750" indent="-285750" algn="l">
              <a:buFont typeface="Arial" charset="2"/>
              <a:buChar char="•"/>
            </a:pPr>
            <a:r>
              <a:rPr lang="en-US" sz="3200">
                <a:solidFill>
                  <a:schemeClr val="tx1"/>
                </a:solidFill>
              </a:rPr>
              <a:t>Problems and Explanation</a:t>
            </a:r>
          </a:p>
          <a:p>
            <a:pPr marL="285750" indent="-285750" algn="l">
              <a:buFont typeface="Arial" charset="2"/>
              <a:buChar char="•"/>
            </a:pPr>
            <a:r>
              <a:rPr lang="en-SG" sz="3200">
                <a:solidFill>
                  <a:schemeClr val="tx1"/>
                </a:solidFill>
              </a:rPr>
              <a:t>Diagram of our pipeline</a:t>
            </a:r>
          </a:p>
          <a:p>
            <a:pPr marL="285750" indent="-285750" algn="l">
              <a:buFont typeface="Arial" charset="2"/>
              <a:buChar char="•"/>
            </a:pPr>
            <a:r>
              <a:rPr lang="en-SG" sz="3200">
                <a:solidFill>
                  <a:schemeClr val="tx1"/>
                </a:solidFill>
              </a:rPr>
              <a:t>Modelling data results</a:t>
            </a:r>
          </a:p>
          <a:p>
            <a:pPr marL="285750" indent="-285750" algn="l">
              <a:buFont typeface="Arial" charset="2"/>
              <a:buChar char="•"/>
            </a:pPr>
            <a:r>
              <a:rPr lang="en-SG" sz="3200">
                <a:solidFill>
                  <a:schemeClr val="tx1"/>
                </a:solidFill>
              </a:rPr>
              <a:t>Evaluation data results</a:t>
            </a:r>
          </a:p>
          <a:p>
            <a:pPr marL="285750" indent="-285750" algn="l">
              <a:buFont typeface="Arial" charset="2"/>
              <a:buChar char="•"/>
            </a:pPr>
            <a:endParaRPr lang="en-SG" sz="4000">
              <a:solidFill>
                <a:schemeClr val="tx1"/>
              </a:solidFill>
            </a:endParaRPr>
          </a:p>
        </p:txBody>
      </p:sp>
    </p:spTree>
    <p:extLst>
      <p:ext uri="{BB962C8B-B14F-4D97-AF65-F5344CB8AC3E}">
        <p14:creationId xmlns:p14="http://schemas.microsoft.com/office/powerpoint/2010/main" val="61340402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D85FB-230E-1E96-3E0E-4BCBE813499C}"/>
              </a:ext>
            </a:extLst>
          </p:cNvPr>
          <p:cNvSpPr>
            <a:spLocks noGrp="1"/>
          </p:cNvSpPr>
          <p:nvPr>
            <p:ph type="title"/>
          </p:nvPr>
        </p:nvSpPr>
        <p:spPr>
          <a:xfrm>
            <a:off x="0" y="0"/>
            <a:ext cx="12192000" cy="718019"/>
          </a:xfrm>
        </p:spPr>
        <p:txBody>
          <a:bodyPr/>
          <a:lstStyle/>
          <a:p>
            <a:r>
              <a:rPr lang="en-US"/>
              <a:t>What our pipeline looks like?</a:t>
            </a:r>
          </a:p>
        </p:txBody>
      </p:sp>
      <p:pic>
        <p:nvPicPr>
          <p:cNvPr id="5" name="Picture 4">
            <a:extLst>
              <a:ext uri="{FF2B5EF4-FFF2-40B4-BE49-F238E27FC236}">
                <a16:creationId xmlns:a16="http://schemas.microsoft.com/office/drawing/2014/main" id="{14E0997C-CE71-4029-3D11-3C2CAF6EB9A1}"/>
              </a:ext>
            </a:extLst>
          </p:cNvPr>
          <p:cNvPicPr>
            <a:picLocks noChangeAspect="1"/>
          </p:cNvPicPr>
          <p:nvPr/>
        </p:nvPicPr>
        <p:blipFill>
          <a:blip r:embed="rId2"/>
          <a:stretch>
            <a:fillRect/>
          </a:stretch>
        </p:blipFill>
        <p:spPr>
          <a:xfrm>
            <a:off x="0" y="718019"/>
            <a:ext cx="12261552" cy="6139981"/>
          </a:xfrm>
          <a:prstGeom prst="rect">
            <a:avLst/>
          </a:prstGeom>
        </p:spPr>
      </p:pic>
      <p:cxnSp>
        <p:nvCxnSpPr>
          <p:cNvPr id="7" name="Straight Arrow Connector 6">
            <a:extLst>
              <a:ext uri="{FF2B5EF4-FFF2-40B4-BE49-F238E27FC236}">
                <a16:creationId xmlns:a16="http://schemas.microsoft.com/office/drawing/2014/main" id="{A76C6115-57F9-202B-457A-CA438618BF2F}"/>
              </a:ext>
            </a:extLst>
          </p:cNvPr>
          <p:cNvCxnSpPr>
            <a:cxnSpLocks/>
          </p:cNvCxnSpPr>
          <p:nvPr/>
        </p:nvCxnSpPr>
        <p:spPr>
          <a:xfrm flipV="1">
            <a:off x="6468306" y="902126"/>
            <a:ext cx="1135329" cy="1436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5221837-BE07-5738-41D2-D60C5D212DCF}"/>
              </a:ext>
            </a:extLst>
          </p:cNvPr>
          <p:cNvSpPr txBox="1"/>
          <p:nvPr/>
        </p:nvSpPr>
        <p:spPr>
          <a:xfrm>
            <a:off x="7603635" y="601418"/>
            <a:ext cx="3022046" cy="369332"/>
          </a:xfrm>
          <a:prstGeom prst="rect">
            <a:avLst/>
          </a:prstGeom>
          <a:solidFill>
            <a:schemeClr val="accent3"/>
          </a:solidFill>
          <a:ln>
            <a:solidFill>
              <a:schemeClr val="accent4"/>
            </a:solidFill>
          </a:ln>
        </p:spPr>
        <p:txBody>
          <a:bodyPr wrap="none" rtlCol="0">
            <a:spAutoFit/>
          </a:bodyPr>
          <a:lstStyle/>
          <a:p>
            <a:r>
              <a:rPr lang="en-US"/>
              <a:t>Edit Metadata: All columns </a:t>
            </a:r>
            <a:endParaRPr lang="en-SG"/>
          </a:p>
        </p:txBody>
      </p:sp>
      <p:cxnSp>
        <p:nvCxnSpPr>
          <p:cNvPr id="10" name="Straight Arrow Connector 9">
            <a:extLst>
              <a:ext uri="{FF2B5EF4-FFF2-40B4-BE49-F238E27FC236}">
                <a16:creationId xmlns:a16="http://schemas.microsoft.com/office/drawing/2014/main" id="{E1E8E2C0-A090-134F-BE8E-6B2851579100}"/>
              </a:ext>
            </a:extLst>
          </p:cNvPr>
          <p:cNvCxnSpPr>
            <a:cxnSpLocks/>
          </p:cNvCxnSpPr>
          <p:nvPr/>
        </p:nvCxnSpPr>
        <p:spPr>
          <a:xfrm flipV="1">
            <a:off x="6682075" y="1436038"/>
            <a:ext cx="1135329" cy="1436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B3EBF93-F584-68F6-E21A-F62ABA60C12E}"/>
              </a:ext>
            </a:extLst>
          </p:cNvPr>
          <p:cNvSpPr txBox="1"/>
          <p:nvPr/>
        </p:nvSpPr>
        <p:spPr>
          <a:xfrm>
            <a:off x="7835368" y="1087351"/>
            <a:ext cx="3437479" cy="369332"/>
          </a:xfrm>
          <a:prstGeom prst="rect">
            <a:avLst/>
          </a:prstGeom>
          <a:solidFill>
            <a:schemeClr val="accent3"/>
          </a:solidFill>
          <a:ln>
            <a:solidFill>
              <a:schemeClr val="accent4"/>
            </a:solidFill>
          </a:ln>
        </p:spPr>
        <p:txBody>
          <a:bodyPr wrap="none" rtlCol="0">
            <a:spAutoFit/>
          </a:bodyPr>
          <a:lstStyle/>
          <a:p>
            <a:r>
              <a:rPr lang="en-US"/>
              <a:t>Remove Duplicate: All columns </a:t>
            </a:r>
            <a:endParaRPr lang="en-SG"/>
          </a:p>
        </p:txBody>
      </p:sp>
      <p:cxnSp>
        <p:nvCxnSpPr>
          <p:cNvPr id="12" name="Straight Arrow Connector 11">
            <a:extLst>
              <a:ext uri="{FF2B5EF4-FFF2-40B4-BE49-F238E27FC236}">
                <a16:creationId xmlns:a16="http://schemas.microsoft.com/office/drawing/2014/main" id="{D8CA0E9B-4F91-FF75-28BF-2B4B80D4D5A1}"/>
              </a:ext>
            </a:extLst>
          </p:cNvPr>
          <p:cNvCxnSpPr>
            <a:cxnSpLocks/>
          </p:cNvCxnSpPr>
          <p:nvPr/>
        </p:nvCxnSpPr>
        <p:spPr>
          <a:xfrm flipV="1">
            <a:off x="1888123" y="1819878"/>
            <a:ext cx="1130380" cy="1770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9768D0C-EAD7-92FF-9F63-F9AA99F87071}"/>
              </a:ext>
            </a:extLst>
          </p:cNvPr>
          <p:cNvSpPr txBox="1"/>
          <p:nvPr/>
        </p:nvSpPr>
        <p:spPr>
          <a:xfrm>
            <a:off x="2042122" y="1450546"/>
            <a:ext cx="1933543" cy="369332"/>
          </a:xfrm>
          <a:prstGeom prst="rect">
            <a:avLst/>
          </a:prstGeom>
          <a:solidFill>
            <a:schemeClr val="accent3"/>
          </a:solidFill>
          <a:ln>
            <a:solidFill>
              <a:schemeClr val="accent4"/>
            </a:solidFill>
          </a:ln>
        </p:spPr>
        <p:txBody>
          <a:bodyPr wrap="none" rtlCol="0">
            <a:spAutoFit/>
          </a:bodyPr>
          <a:lstStyle/>
          <a:p>
            <a:r>
              <a:rPr lang="en-US"/>
              <a:t>SC1: </a:t>
            </a:r>
            <a:r>
              <a:rPr lang="en-US" err="1"/>
              <a:t>Diagnosis,id</a:t>
            </a:r>
            <a:endParaRPr lang="en-SG"/>
          </a:p>
        </p:txBody>
      </p:sp>
      <p:cxnSp>
        <p:nvCxnSpPr>
          <p:cNvPr id="14" name="Straight Arrow Connector 13">
            <a:extLst>
              <a:ext uri="{FF2B5EF4-FFF2-40B4-BE49-F238E27FC236}">
                <a16:creationId xmlns:a16="http://schemas.microsoft.com/office/drawing/2014/main" id="{1B5A3227-0B45-2BE7-29E4-E14D42EC799B}"/>
              </a:ext>
            </a:extLst>
          </p:cNvPr>
          <p:cNvCxnSpPr>
            <a:cxnSpLocks/>
          </p:cNvCxnSpPr>
          <p:nvPr/>
        </p:nvCxnSpPr>
        <p:spPr>
          <a:xfrm flipV="1">
            <a:off x="6747535" y="2266850"/>
            <a:ext cx="1187097" cy="1507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1958644-3489-23D9-9994-B4180266AAC6}"/>
              </a:ext>
            </a:extLst>
          </p:cNvPr>
          <p:cNvSpPr txBox="1"/>
          <p:nvPr/>
        </p:nvSpPr>
        <p:spPr>
          <a:xfrm>
            <a:off x="7859435" y="1897518"/>
            <a:ext cx="3502882" cy="369332"/>
          </a:xfrm>
          <a:prstGeom prst="rect">
            <a:avLst/>
          </a:prstGeom>
          <a:solidFill>
            <a:schemeClr val="accent3"/>
          </a:solidFill>
          <a:ln>
            <a:solidFill>
              <a:schemeClr val="accent4"/>
            </a:solidFill>
          </a:ln>
        </p:spPr>
        <p:txBody>
          <a:bodyPr wrap="none" rtlCol="0">
            <a:spAutoFit/>
          </a:bodyPr>
          <a:lstStyle/>
          <a:p>
            <a:r>
              <a:rPr lang="en-US"/>
              <a:t>SC2: Diagnosis, id, radius, mean</a:t>
            </a:r>
            <a:endParaRPr lang="en-SG"/>
          </a:p>
        </p:txBody>
      </p:sp>
      <p:cxnSp>
        <p:nvCxnSpPr>
          <p:cNvPr id="16" name="Straight Arrow Connector 15">
            <a:extLst>
              <a:ext uri="{FF2B5EF4-FFF2-40B4-BE49-F238E27FC236}">
                <a16:creationId xmlns:a16="http://schemas.microsoft.com/office/drawing/2014/main" id="{E36E319F-15A8-1B6E-CC00-9872DE4F9542}"/>
              </a:ext>
            </a:extLst>
          </p:cNvPr>
          <p:cNvCxnSpPr>
            <a:cxnSpLocks/>
          </p:cNvCxnSpPr>
          <p:nvPr/>
        </p:nvCxnSpPr>
        <p:spPr>
          <a:xfrm flipH="1" flipV="1">
            <a:off x="9202994" y="3195241"/>
            <a:ext cx="1137704" cy="557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B6F554A-DA78-178E-888C-E41F2F6C7E4E}"/>
              </a:ext>
            </a:extLst>
          </p:cNvPr>
          <p:cNvSpPr txBox="1"/>
          <p:nvPr/>
        </p:nvSpPr>
        <p:spPr>
          <a:xfrm>
            <a:off x="7053926" y="2548910"/>
            <a:ext cx="5198859" cy="646331"/>
          </a:xfrm>
          <a:prstGeom prst="rect">
            <a:avLst/>
          </a:prstGeom>
          <a:solidFill>
            <a:schemeClr val="accent3"/>
          </a:solidFill>
          <a:ln>
            <a:solidFill>
              <a:schemeClr val="accent4"/>
            </a:solidFill>
          </a:ln>
        </p:spPr>
        <p:txBody>
          <a:bodyPr wrap="none" rtlCol="0">
            <a:spAutoFit/>
          </a:bodyPr>
          <a:lstStyle/>
          <a:p>
            <a:r>
              <a:rPr lang="en-US"/>
              <a:t>SC3: Diagnosis, id, radius, mean, </a:t>
            </a:r>
            <a:r>
              <a:rPr lang="en-US" err="1"/>
              <a:t>texture_mean</a:t>
            </a:r>
            <a:r>
              <a:rPr lang="en-US"/>
              <a:t>,</a:t>
            </a:r>
          </a:p>
          <a:p>
            <a:r>
              <a:rPr lang="en-US" err="1"/>
              <a:t>perimeter_mean</a:t>
            </a:r>
            <a:endParaRPr lang="en-SG"/>
          </a:p>
        </p:txBody>
      </p:sp>
      <p:cxnSp>
        <p:nvCxnSpPr>
          <p:cNvPr id="20" name="Straight Arrow Connector 19">
            <a:extLst>
              <a:ext uri="{FF2B5EF4-FFF2-40B4-BE49-F238E27FC236}">
                <a16:creationId xmlns:a16="http://schemas.microsoft.com/office/drawing/2014/main" id="{F2AD1F5E-B285-9E44-91A9-88758ACDB074}"/>
              </a:ext>
            </a:extLst>
          </p:cNvPr>
          <p:cNvCxnSpPr>
            <a:cxnSpLocks/>
          </p:cNvCxnSpPr>
          <p:nvPr/>
        </p:nvCxnSpPr>
        <p:spPr>
          <a:xfrm flipV="1">
            <a:off x="1873564" y="3421746"/>
            <a:ext cx="1380913" cy="1690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144DF2D-30E7-5425-BF31-F698BFF074B0}"/>
              </a:ext>
            </a:extLst>
          </p:cNvPr>
          <p:cNvSpPr txBox="1"/>
          <p:nvPr/>
        </p:nvSpPr>
        <p:spPr>
          <a:xfrm>
            <a:off x="2893138" y="3052414"/>
            <a:ext cx="1582484" cy="369332"/>
          </a:xfrm>
          <a:prstGeom prst="rect">
            <a:avLst/>
          </a:prstGeom>
          <a:solidFill>
            <a:schemeClr val="accent3"/>
          </a:solidFill>
          <a:ln>
            <a:solidFill>
              <a:schemeClr val="accent4"/>
            </a:solidFill>
          </a:ln>
        </p:spPr>
        <p:txBody>
          <a:bodyPr wrap="none" rtlCol="0">
            <a:spAutoFit/>
          </a:bodyPr>
          <a:lstStyle/>
          <a:p>
            <a:r>
              <a:rPr lang="en-US"/>
              <a:t>TM: Diagnosis</a:t>
            </a:r>
            <a:endParaRPr lang="en-SG"/>
          </a:p>
        </p:txBody>
      </p:sp>
    </p:spTree>
    <p:extLst>
      <p:ext uri="{BB962C8B-B14F-4D97-AF65-F5344CB8AC3E}">
        <p14:creationId xmlns:p14="http://schemas.microsoft.com/office/powerpoint/2010/main" val="12070794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E888AE-1756-E31A-1565-378F36B7C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55004" y="1221519"/>
            <a:ext cx="2905530" cy="895475"/>
          </a:xfrm>
        </p:spPr>
      </p:pic>
      <p:sp>
        <p:nvSpPr>
          <p:cNvPr id="6" name="TextBox 5">
            <a:extLst>
              <a:ext uri="{FF2B5EF4-FFF2-40B4-BE49-F238E27FC236}">
                <a16:creationId xmlns:a16="http://schemas.microsoft.com/office/drawing/2014/main" id="{46103FDB-FE2D-1FA4-895B-BDB1B3F81F33}"/>
              </a:ext>
            </a:extLst>
          </p:cNvPr>
          <p:cNvSpPr txBox="1"/>
          <p:nvPr/>
        </p:nvSpPr>
        <p:spPr>
          <a:xfrm>
            <a:off x="0" y="2400300"/>
            <a:ext cx="12192000" cy="923330"/>
          </a:xfrm>
          <a:prstGeom prst="rect">
            <a:avLst/>
          </a:prstGeom>
          <a:noFill/>
        </p:spPr>
        <p:txBody>
          <a:bodyPr wrap="square" rtlCol="0">
            <a:spAutoFit/>
          </a:bodyPr>
          <a:lstStyle/>
          <a:p>
            <a:r>
              <a:rPr lang="en-US"/>
              <a:t>Use the Edit Metadata component to change metadata that's associated with columns in a dataset. The value and data type of the dataset will change after use of the Edit Metadata component.</a:t>
            </a:r>
            <a:r>
              <a:rPr lang="en-SG"/>
              <a:t> It is to prevent any error in the data and modify the columns in the dataset.</a:t>
            </a:r>
            <a:endParaRPr lang="en-US"/>
          </a:p>
        </p:txBody>
      </p:sp>
    </p:spTree>
    <p:extLst>
      <p:ext uri="{BB962C8B-B14F-4D97-AF65-F5344CB8AC3E}">
        <p14:creationId xmlns:p14="http://schemas.microsoft.com/office/powerpoint/2010/main" val="3035383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phone&#10;&#10;AI-generated content may be incorrect.">
            <a:extLst>
              <a:ext uri="{FF2B5EF4-FFF2-40B4-BE49-F238E27FC236}">
                <a16:creationId xmlns:a16="http://schemas.microsoft.com/office/drawing/2014/main" id="{064360A1-C10F-6AC9-6E40-0061EF2F2B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4222" y="1364400"/>
            <a:ext cx="2819794" cy="800212"/>
          </a:xfrm>
        </p:spPr>
      </p:pic>
      <p:sp>
        <p:nvSpPr>
          <p:cNvPr id="6" name="TextBox 5">
            <a:extLst>
              <a:ext uri="{FF2B5EF4-FFF2-40B4-BE49-F238E27FC236}">
                <a16:creationId xmlns:a16="http://schemas.microsoft.com/office/drawing/2014/main" id="{BD58054D-0B29-8A82-C162-58D48A5B147F}"/>
              </a:ext>
            </a:extLst>
          </p:cNvPr>
          <p:cNvSpPr txBox="1"/>
          <p:nvPr/>
        </p:nvSpPr>
        <p:spPr>
          <a:xfrm>
            <a:off x="1758422" y="2870200"/>
            <a:ext cx="9100568" cy="923330"/>
          </a:xfrm>
          <a:prstGeom prst="rect">
            <a:avLst/>
          </a:prstGeom>
          <a:noFill/>
        </p:spPr>
        <p:txBody>
          <a:bodyPr wrap="none" rtlCol="0">
            <a:spAutoFit/>
          </a:bodyPr>
          <a:lstStyle/>
          <a:p>
            <a:pPr lvl="0" defTabSz="914400" eaLnBrk="0" fontAlgn="base" hangingPunct="0">
              <a:spcBef>
                <a:spcPct val="0"/>
              </a:spcBef>
              <a:spcAft>
                <a:spcPct val="0"/>
              </a:spcAft>
              <a:buFontTx/>
              <a:buChar char="•"/>
            </a:pPr>
            <a:r>
              <a:rPr lang="en-US" altLang="en-US" b="1">
                <a:latin typeface="Arial" panose="020B0604020202020204" pitchFamily="34" charset="0"/>
              </a:rPr>
              <a:t>Identifies duplicate rows</a:t>
            </a:r>
            <a:r>
              <a:rPr lang="en-US" altLang="en-US">
                <a:latin typeface="Arial" panose="020B0604020202020204" pitchFamily="34" charset="0"/>
              </a:rPr>
              <a:t> based on selected key columns. </a:t>
            </a:r>
          </a:p>
          <a:p>
            <a:pPr lvl="0" defTabSz="914400" eaLnBrk="0" fontAlgn="base" hangingPunct="0">
              <a:spcBef>
                <a:spcPct val="0"/>
              </a:spcBef>
              <a:spcAft>
                <a:spcPct val="0"/>
              </a:spcAft>
              <a:buFontTx/>
              <a:buChar char="•"/>
            </a:pPr>
            <a:r>
              <a:rPr lang="en-US" altLang="en-US" b="1">
                <a:latin typeface="Arial" panose="020B0604020202020204" pitchFamily="34" charset="0"/>
              </a:rPr>
              <a:t>Removes repeated entries</a:t>
            </a:r>
            <a:r>
              <a:rPr lang="en-US" altLang="en-US">
                <a:latin typeface="Arial" panose="020B0604020202020204" pitchFamily="34" charset="0"/>
              </a:rPr>
              <a:t>, keeping only one unique instance. </a:t>
            </a:r>
          </a:p>
          <a:p>
            <a:pPr lvl="0" defTabSz="914400" eaLnBrk="0" fontAlgn="base" hangingPunct="0">
              <a:spcBef>
                <a:spcPct val="0"/>
              </a:spcBef>
              <a:spcAft>
                <a:spcPct val="0"/>
              </a:spcAft>
              <a:buFontTx/>
              <a:buChar char="•"/>
            </a:pPr>
            <a:r>
              <a:rPr lang="en-US" altLang="en-US" b="1">
                <a:latin typeface="Arial" panose="020B0604020202020204" pitchFamily="34" charset="0"/>
              </a:rPr>
              <a:t>Creates a new dataset</a:t>
            </a:r>
            <a:r>
              <a:rPr lang="en-US" altLang="en-US">
                <a:latin typeface="Arial" panose="020B0604020202020204" pitchFamily="34" charset="0"/>
              </a:rPr>
              <a:t> with duplicates filtered out (original data remains unchanged). </a:t>
            </a:r>
          </a:p>
        </p:txBody>
      </p:sp>
    </p:spTree>
    <p:extLst>
      <p:ext uri="{BB962C8B-B14F-4D97-AF65-F5344CB8AC3E}">
        <p14:creationId xmlns:p14="http://schemas.microsoft.com/office/powerpoint/2010/main" val="1739997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D4473454-3AA8-5F79-3043-02FA8A8C2E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09918" y="972290"/>
            <a:ext cx="2772162" cy="771633"/>
          </a:xfrm>
        </p:spPr>
      </p:pic>
      <p:sp>
        <p:nvSpPr>
          <p:cNvPr id="6" name="TextBox 5">
            <a:extLst>
              <a:ext uri="{FF2B5EF4-FFF2-40B4-BE49-F238E27FC236}">
                <a16:creationId xmlns:a16="http://schemas.microsoft.com/office/drawing/2014/main" id="{150A9A6F-FE12-E8CC-20B7-6975ED5B599D}"/>
              </a:ext>
            </a:extLst>
          </p:cNvPr>
          <p:cNvSpPr txBox="1"/>
          <p:nvPr/>
        </p:nvSpPr>
        <p:spPr>
          <a:xfrm>
            <a:off x="709038" y="2247900"/>
            <a:ext cx="10773923" cy="1754326"/>
          </a:xfrm>
          <a:prstGeom prst="rect">
            <a:avLst/>
          </a:prstGeom>
          <a:noFill/>
        </p:spPr>
        <p:txBody>
          <a:bodyPr wrap="square" rtlCol="0">
            <a:spAutoFit/>
          </a:bodyPr>
          <a:lstStyle/>
          <a:p>
            <a:r>
              <a:rPr lang="en-US"/>
              <a:t>Use this component to choose a subset of columns to use in downstream operations. The component does not physically remove the columns from the source dataset; instead, it creates a subset of columns, much like a database </a:t>
            </a:r>
            <a:r>
              <a:rPr lang="en-US" i="1"/>
              <a:t>view</a:t>
            </a:r>
            <a:r>
              <a:rPr lang="en-US"/>
              <a:t> or </a:t>
            </a:r>
            <a:r>
              <a:rPr lang="en-US" i="1"/>
              <a:t>projection</a:t>
            </a:r>
            <a:r>
              <a:rPr lang="en-US"/>
              <a:t>.</a:t>
            </a:r>
          </a:p>
          <a:p>
            <a:r>
              <a:rPr lang="en-US"/>
              <a:t>This component is useful when you need to limit the columns available for a downstream operation, or if you want to reduce the size of the dataset by removing unneeded columns.</a:t>
            </a:r>
          </a:p>
          <a:p>
            <a:endParaRPr lang="en-SG"/>
          </a:p>
        </p:txBody>
      </p:sp>
    </p:spTree>
    <p:extLst>
      <p:ext uri="{BB962C8B-B14F-4D97-AF65-F5344CB8AC3E}">
        <p14:creationId xmlns:p14="http://schemas.microsoft.com/office/powerpoint/2010/main" val="199449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34867-0A1B-9B5C-840F-345AF850868E}"/>
              </a:ext>
            </a:extLst>
          </p:cNvPr>
          <p:cNvSpPr>
            <a:spLocks noGrp="1"/>
          </p:cNvSpPr>
          <p:nvPr>
            <p:ph type="title"/>
          </p:nvPr>
        </p:nvSpPr>
        <p:spPr/>
        <p:txBody>
          <a:bodyPr/>
          <a:lstStyle/>
          <a:p>
            <a:r>
              <a:rPr lang="en-US"/>
              <a:t>For the 1</a:t>
            </a:r>
            <a:r>
              <a:rPr lang="en-US" baseline="30000"/>
              <a:t>st</a:t>
            </a:r>
            <a:r>
              <a:rPr lang="en-US"/>
              <a:t> set</a:t>
            </a:r>
            <a:endParaRPr lang="en-SG"/>
          </a:p>
        </p:txBody>
      </p:sp>
      <p:pic>
        <p:nvPicPr>
          <p:cNvPr id="5" name="Content Placeholder 4">
            <a:extLst>
              <a:ext uri="{FF2B5EF4-FFF2-40B4-BE49-F238E27FC236}">
                <a16:creationId xmlns:a16="http://schemas.microsoft.com/office/drawing/2014/main" id="{AB864490-A392-3B44-8F32-07AD0B2AA2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61655" y="1839790"/>
            <a:ext cx="2886478" cy="914528"/>
          </a:xfrm>
        </p:spPr>
      </p:pic>
      <p:sp>
        <p:nvSpPr>
          <p:cNvPr id="9" name="TextBox 8">
            <a:extLst>
              <a:ext uri="{FF2B5EF4-FFF2-40B4-BE49-F238E27FC236}">
                <a16:creationId xmlns:a16="http://schemas.microsoft.com/office/drawing/2014/main" id="{93E32859-DF42-6EB9-E97F-FDDCB45B55A1}"/>
              </a:ext>
            </a:extLst>
          </p:cNvPr>
          <p:cNvSpPr txBox="1"/>
          <p:nvPr/>
        </p:nvSpPr>
        <p:spPr>
          <a:xfrm>
            <a:off x="1991556" y="3245844"/>
            <a:ext cx="7111507" cy="1477328"/>
          </a:xfrm>
          <a:prstGeom prst="rect">
            <a:avLst/>
          </a:prstGeom>
          <a:noFill/>
        </p:spPr>
        <p:txBody>
          <a:bodyPr wrap="square" rtlCol="0">
            <a:spAutoFit/>
          </a:bodyPr>
          <a:lstStyle/>
          <a:p>
            <a:r>
              <a:rPr lang="en-US"/>
              <a:t>Creates a two-class logistic regression model. Logistic regression is a well-known method in statistics that is used to predict the probability of an outcome and is especially popular for classification tasks. The algorithm predicts the probability of occurrence of an event by fitting data to a logistic function.</a:t>
            </a:r>
            <a:endParaRPr lang="en-SG"/>
          </a:p>
        </p:txBody>
      </p:sp>
    </p:spTree>
    <p:extLst>
      <p:ext uri="{BB962C8B-B14F-4D97-AF65-F5344CB8AC3E}">
        <p14:creationId xmlns:p14="http://schemas.microsoft.com/office/powerpoint/2010/main" val="658656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4E32E-BA09-A78D-59BA-8E662080B5AC}"/>
              </a:ext>
            </a:extLst>
          </p:cNvPr>
          <p:cNvSpPr>
            <a:spLocks noGrp="1"/>
          </p:cNvSpPr>
          <p:nvPr>
            <p:ph type="title"/>
          </p:nvPr>
        </p:nvSpPr>
        <p:spPr/>
        <p:txBody>
          <a:bodyPr/>
          <a:lstStyle/>
          <a:p>
            <a:r>
              <a:rPr lang="en-US"/>
              <a:t>For the 2</a:t>
            </a:r>
            <a:r>
              <a:rPr lang="en-US" baseline="30000"/>
              <a:t>nd</a:t>
            </a:r>
            <a:r>
              <a:rPr lang="en-US"/>
              <a:t> set</a:t>
            </a:r>
            <a:endParaRPr lang="en-SG"/>
          </a:p>
        </p:txBody>
      </p:sp>
      <p:pic>
        <p:nvPicPr>
          <p:cNvPr id="5" name="Content Placeholder 4">
            <a:extLst>
              <a:ext uri="{FF2B5EF4-FFF2-40B4-BE49-F238E27FC236}">
                <a16:creationId xmlns:a16="http://schemas.microsoft.com/office/drawing/2014/main" id="{D94B822D-49B6-5B66-7415-6C24E4343E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47941" y="1930400"/>
            <a:ext cx="2838846" cy="914528"/>
          </a:xfrm>
        </p:spPr>
      </p:pic>
      <p:sp>
        <p:nvSpPr>
          <p:cNvPr id="6" name="TextBox 5">
            <a:extLst>
              <a:ext uri="{FF2B5EF4-FFF2-40B4-BE49-F238E27FC236}">
                <a16:creationId xmlns:a16="http://schemas.microsoft.com/office/drawing/2014/main" id="{CB6DA7D7-528F-FD96-47BC-AA90B844D72C}"/>
              </a:ext>
            </a:extLst>
          </p:cNvPr>
          <p:cNvSpPr txBox="1"/>
          <p:nvPr/>
        </p:nvSpPr>
        <p:spPr>
          <a:xfrm>
            <a:off x="0" y="3575050"/>
            <a:ext cx="12192000" cy="2585323"/>
          </a:xfrm>
          <a:prstGeom prst="rect">
            <a:avLst/>
          </a:prstGeom>
          <a:noFill/>
        </p:spPr>
        <p:txBody>
          <a:bodyPr wrap="square" rtlCol="0">
            <a:spAutoFit/>
          </a:bodyPr>
          <a:lstStyle/>
          <a:p>
            <a:r>
              <a:rPr lang="en-US"/>
              <a:t>Use this component to create a machine learning model that is based on the boosted decision trees algorithm.</a:t>
            </a:r>
          </a:p>
          <a:p>
            <a:r>
              <a:rPr lang="en-US"/>
              <a:t>A boosted decision tree is an ensemble learning method in which the second tree corrects for the errors of the first tree, the third tree corrects for the errors of the first and second trees, and so forth. Predictions are based on the entire ensemble of trees together that makes the prediction.</a:t>
            </a:r>
          </a:p>
          <a:p>
            <a:r>
              <a:rPr lang="en-US"/>
              <a:t>Generally, when properly configured, boosted decision trees are the easiest methods with which to get top performance on a wide variety of machine learning tasks. However, they are also one of the more memory-intensive learners, and the current implementation holds everything in memory. Therefore, a boosted decision tree model might not be able to process the large datasets that some linear learners can handle.</a:t>
            </a:r>
          </a:p>
          <a:p>
            <a:endParaRPr lang="en-SG"/>
          </a:p>
        </p:txBody>
      </p:sp>
    </p:spTree>
    <p:extLst>
      <p:ext uri="{BB962C8B-B14F-4D97-AF65-F5344CB8AC3E}">
        <p14:creationId xmlns:p14="http://schemas.microsoft.com/office/powerpoint/2010/main" val="173180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D006-88D3-4330-4DF5-889E74043DE0}"/>
              </a:ext>
            </a:extLst>
          </p:cNvPr>
          <p:cNvSpPr>
            <a:spLocks noGrp="1"/>
          </p:cNvSpPr>
          <p:nvPr>
            <p:ph type="title"/>
          </p:nvPr>
        </p:nvSpPr>
        <p:spPr/>
        <p:txBody>
          <a:bodyPr/>
          <a:lstStyle/>
          <a:p>
            <a:r>
              <a:rPr lang="en-US"/>
              <a:t>For the 3</a:t>
            </a:r>
            <a:r>
              <a:rPr lang="en-US" baseline="30000"/>
              <a:t>rd</a:t>
            </a:r>
            <a:r>
              <a:rPr lang="en-US"/>
              <a:t> set</a:t>
            </a:r>
            <a:endParaRPr lang="en-SG"/>
          </a:p>
        </p:txBody>
      </p:sp>
      <p:pic>
        <p:nvPicPr>
          <p:cNvPr id="5" name="Content Placeholder 4" descr="A screenshot of a phone&#10;&#10;AI-generated content may be incorrect.">
            <a:extLst>
              <a:ext uri="{FF2B5EF4-FFF2-40B4-BE49-F238E27FC236}">
                <a16:creationId xmlns:a16="http://schemas.microsoft.com/office/drawing/2014/main" id="{403FE339-097B-5135-A863-5511CB8441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2335" y="1930400"/>
            <a:ext cx="2991267" cy="952633"/>
          </a:xfrm>
        </p:spPr>
      </p:pic>
      <p:sp>
        <p:nvSpPr>
          <p:cNvPr id="6" name="TextBox 5">
            <a:extLst>
              <a:ext uri="{FF2B5EF4-FFF2-40B4-BE49-F238E27FC236}">
                <a16:creationId xmlns:a16="http://schemas.microsoft.com/office/drawing/2014/main" id="{F08B3295-2356-D200-82BC-FFB2F23123F1}"/>
              </a:ext>
            </a:extLst>
          </p:cNvPr>
          <p:cNvSpPr txBox="1"/>
          <p:nvPr/>
        </p:nvSpPr>
        <p:spPr>
          <a:xfrm>
            <a:off x="0" y="3238500"/>
            <a:ext cx="12192000" cy="1200329"/>
          </a:xfrm>
          <a:prstGeom prst="rect">
            <a:avLst/>
          </a:prstGeom>
          <a:noFill/>
        </p:spPr>
        <p:txBody>
          <a:bodyPr wrap="square" rtlCol="0">
            <a:spAutoFit/>
          </a:bodyPr>
          <a:lstStyle/>
          <a:p>
            <a:r>
              <a:rPr lang="en-US"/>
              <a:t>Use this component to create a machine learning model based on the decision forests algorithm.</a:t>
            </a:r>
          </a:p>
          <a:p>
            <a:r>
              <a:rPr lang="en-US"/>
              <a:t>Decision forests are fast, supervised ensemble models. This component is a good choice if you want to predict a target with a maximum of two outcomes.</a:t>
            </a:r>
          </a:p>
          <a:p>
            <a:endParaRPr lang="en-SG"/>
          </a:p>
        </p:txBody>
      </p:sp>
    </p:spTree>
    <p:extLst>
      <p:ext uri="{BB962C8B-B14F-4D97-AF65-F5344CB8AC3E}">
        <p14:creationId xmlns:p14="http://schemas.microsoft.com/office/powerpoint/2010/main" val="1761207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rectangular object with black dots&#10;&#10;AI-generated content may be incorrect.">
            <a:extLst>
              <a:ext uri="{FF2B5EF4-FFF2-40B4-BE49-F238E27FC236}">
                <a16:creationId xmlns:a16="http://schemas.microsoft.com/office/drawing/2014/main" id="{CAEFE34A-E0AC-3E6D-5DE2-FF77F619F4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1248" y="877043"/>
            <a:ext cx="2619741" cy="733527"/>
          </a:xfrm>
        </p:spPr>
      </p:pic>
      <p:sp>
        <p:nvSpPr>
          <p:cNvPr id="6" name="TextBox 5">
            <a:extLst>
              <a:ext uri="{FF2B5EF4-FFF2-40B4-BE49-F238E27FC236}">
                <a16:creationId xmlns:a16="http://schemas.microsoft.com/office/drawing/2014/main" id="{8F66430E-4D0D-F3CA-622C-23C662AF7DAA}"/>
              </a:ext>
            </a:extLst>
          </p:cNvPr>
          <p:cNvSpPr txBox="1"/>
          <p:nvPr/>
        </p:nvSpPr>
        <p:spPr>
          <a:xfrm>
            <a:off x="203200" y="2374900"/>
            <a:ext cx="12058650" cy="923330"/>
          </a:xfrm>
          <a:prstGeom prst="rect">
            <a:avLst/>
          </a:prstGeom>
          <a:noFill/>
        </p:spPr>
        <p:txBody>
          <a:bodyPr wrap="square" rtlCol="0">
            <a:spAutoFit/>
          </a:bodyPr>
          <a:lstStyle/>
          <a:p>
            <a:r>
              <a:rPr lang="en-US"/>
              <a:t>Use this component to train a classification or regression model. Training takes place after you have defined a model and set its parameters, and requires tagged data. You can also use </a:t>
            </a:r>
            <a:r>
              <a:rPr lang="en-US" b="1"/>
              <a:t>Train Model</a:t>
            </a:r>
            <a:r>
              <a:rPr lang="en-US"/>
              <a:t> to retrain an existing model with new data.</a:t>
            </a:r>
            <a:endParaRPr lang="en-SG"/>
          </a:p>
        </p:txBody>
      </p:sp>
    </p:spTree>
    <p:extLst>
      <p:ext uri="{BB962C8B-B14F-4D97-AF65-F5344CB8AC3E}">
        <p14:creationId xmlns:p14="http://schemas.microsoft.com/office/powerpoint/2010/main" val="979273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background with black dots&#10;&#10;AI-generated content may be incorrect.">
            <a:extLst>
              <a:ext uri="{FF2B5EF4-FFF2-40B4-BE49-F238E27FC236}">
                <a16:creationId xmlns:a16="http://schemas.microsoft.com/office/drawing/2014/main" id="{6F149FF8-2C11-D3A3-AE32-B00F9F82D0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54902" y="1635039"/>
            <a:ext cx="2905530" cy="781159"/>
          </a:xfrm>
        </p:spPr>
      </p:pic>
      <p:sp>
        <p:nvSpPr>
          <p:cNvPr id="11" name="Rectangle 3">
            <a:extLst>
              <a:ext uri="{FF2B5EF4-FFF2-40B4-BE49-F238E27FC236}">
                <a16:creationId xmlns:a16="http://schemas.microsoft.com/office/drawing/2014/main" id="{47797ED2-0BD2-128D-5B17-FB436CDE3EAD}"/>
              </a:ext>
            </a:extLst>
          </p:cNvPr>
          <p:cNvSpPr>
            <a:spLocks noChangeArrowheads="1"/>
          </p:cNvSpPr>
          <p:nvPr/>
        </p:nvSpPr>
        <p:spPr bwMode="auto">
          <a:xfrm>
            <a:off x="1458884" y="2939317"/>
            <a:ext cx="749756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Evaluating performance</a:t>
            </a:r>
            <a:r>
              <a:rPr kumimoji="0" lang="en-US" altLang="en-US" sz="1800" b="0" i="0" u="none" strike="noStrike" cap="none" normalizeH="0" baseline="0">
                <a:ln>
                  <a:noFill/>
                </a:ln>
                <a:solidFill>
                  <a:schemeClr val="tx1"/>
                </a:solidFill>
                <a:effectLst/>
                <a:latin typeface="Arial" panose="020B0604020202020204" pitchFamily="34" charset="0"/>
              </a:rPr>
              <a:t> using metrics like accuracy, precision, recall </a:t>
            </a:r>
          </a:p>
          <a:p>
            <a:pPr defTabSz="914400"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Applying a trained model</a:t>
            </a:r>
            <a:r>
              <a:rPr kumimoji="0" lang="en-US" altLang="en-US" b="0" i="0" u="none" strike="noStrike" cap="none" normalizeH="0" baseline="0">
                <a:ln>
                  <a:noFill/>
                </a:ln>
                <a:solidFill>
                  <a:schemeClr val="tx1"/>
                </a:solidFill>
                <a:effectLst/>
                <a:latin typeface="Arial" panose="020B0604020202020204" pitchFamily="34" charset="0"/>
              </a:rPr>
              <a:t> to new, unseen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Generating predictions</a:t>
            </a:r>
            <a:r>
              <a:rPr kumimoji="0" lang="en-US" altLang="en-US" sz="1800" b="0" i="0" u="none" strike="noStrike" cap="none" normalizeH="0" baseline="0">
                <a:ln>
                  <a:noFill/>
                </a:ln>
                <a:solidFill>
                  <a:schemeClr val="tx1"/>
                </a:solidFill>
                <a:effectLst/>
                <a:latin typeface="Arial" panose="020B0604020202020204" pitchFamily="34" charset="0"/>
              </a:rPr>
              <a:t> (e.g., classification labels, regression values)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9077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phone&#10;&#10;AI-generated content may be incorrect.">
            <a:extLst>
              <a:ext uri="{FF2B5EF4-FFF2-40B4-BE49-F238E27FC236}">
                <a16:creationId xmlns:a16="http://schemas.microsoft.com/office/drawing/2014/main" id="{2F38696F-AE58-9588-BEE6-38CB3364DE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9996" y="770677"/>
            <a:ext cx="2657846" cy="781159"/>
          </a:xfrm>
        </p:spPr>
      </p:pic>
      <p:sp>
        <p:nvSpPr>
          <p:cNvPr id="6" name="TextBox 5">
            <a:extLst>
              <a:ext uri="{FF2B5EF4-FFF2-40B4-BE49-F238E27FC236}">
                <a16:creationId xmlns:a16="http://schemas.microsoft.com/office/drawing/2014/main" id="{28ED88FF-7019-6A80-08D5-563EA9D0927F}"/>
              </a:ext>
            </a:extLst>
          </p:cNvPr>
          <p:cNvSpPr txBox="1"/>
          <p:nvPr/>
        </p:nvSpPr>
        <p:spPr>
          <a:xfrm>
            <a:off x="-94318" y="2561555"/>
            <a:ext cx="12497332" cy="1477328"/>
          </a:xfrm>
          <a:prstGeom prst="rect">
            <a:avLst/>
          </a:prstGeom>
          <a:noFill/>
        </p:spPr>
        <p:txBody>
          <a:bodyPr wrap="square" rtlCol="0">
            <a:spAutoFit/>
          </a:bodyPr>
          <a:lstStyle/>
          <a:p>
            <a:r>
              <a:rPr lang="en-US"/>
              <a:t>The Evaluate Model component calculates </a:t>
            </a:r>
            <a:r>
              <a:rPr lang="en-US" b="1"/>
              <a:t>industry-standard metrics</a:t>
            </a:r>
            <a:r>
              <a:rPr lang="en-US"/>
              <a:t> based on the type of model you're working with:</a:t>
            </a:r>
          </a:p>
          <a:p>
            <a:r>
              <a:rPr lang="en-US" b="1"/>
              <a:t>Classification models</a:t>
            </a:r>
            <a:r>
              <a:rPr lang="en-US"/>
              <a:t>: Metrics like accuracy, precision, recall, F1 score, and AUC.</a:t>
            </a:r>
          </a:p>
          <a:p>
            <a:r>
              <a:rPr lang="en-US" b="1"/>
              <a:t>Regression models</a:t>
            </a:r>
            <a:r>
              <a:rPr lang="en-US"/>
              <a:t>: Metrics such as mean absolute error, root mean squared error, and R² score.</a:t>
            </a:r>
          </a:p>
          <a:p>
            <a:r>
              <a:rPr lang="en-US" b="1"/>
              <a:t>Clustering models</a:t>
            </a:r>
            <a:r>
              <a:rPr lang="en-US"/>
              <a:t>: Measures like average distance to cluster centers and assignment accuracy.</a:t>
            </a:r>
          </a:p>
          <a:p>
            <a:endParaRPr lang="en-SG"/>
          </a:p>
        </p:txBody>
      </p:sp>
    </p:spTree>
    <p:extLst>
      <p:ext uri="{BB962C8B-B14F-4D97-AF65-F5344CB8AC3E}">
        <p14:creationId xmlns:p14="http://schemas.microsoft.com/office/powerpoint/2010/main" val="1660726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0A61547-2555-4DE2-A37F-A53E549174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5C2447E0-8F0D-479C-94E4-82BC8EB68C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F943397-DCDD-44CB-BBA9-9510B7698D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E2630ADC-31DB-4C48-AC4A-DAAE5A7B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6" name="Rectangle 25">
              <a:extLst>
                <a:ext uri="{FF2B5EF4-FFF2-40B4-BE49-F238E27FC236}">
                  <a16:creationId xmlns:a16="http://schemas.microsoft.com/office/drawing/2014/main" id="{2CA5C44E-F54E-47E0-8989-4D8686B33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7" name="Isosceles Triangle 16">
              <a:extLst>
                <a:ext uri="{FF2B5EF4-FFF2-40B4-BE49-F238E27FC236}">
                  <a16:creationId xmlns:a16="http://schemas.microsoft.com/office/drawing/2014/main" id="{FF54E15E-830B-4375-A239-4C51954DE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8" name="Rectangle 27">
              <a:extLst>
                <a:ext uri="{FF2B5EF4-FFF2-40B4-BE49-F238E27FC236}">
                  <a16:creationId xmlns:a16="http://schemas.microsoft.com/office/drawing/2014/main" id="{CB37E322-FF7E-4872-BD6B-50A48CBEA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9" name="Rectangle 28">
              <a:extLst>
                <a:ext uri="{FF2B5EF4-FFF2-40B4-BE49-F238E27FC236}">
                  <a16:creationId xmlns:a16="http://schemas.microsoft.com/office/drawing/2014/main" id="{710D0C1E-D2F8-45B2-AE14-1AC8E976F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0" name="Rectangle 29">
              <a:extLst>
                <a:ext uri="{FF2B5EF4-FFF2-40B4-BE49-F238E27FC236}">
                  <a16:creationId xmlns:a16="http://schemas.microsoft.com/office/drawing/2014/main" id="{3216331B-17D0-4167-ABD2-B2198058C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1" name="Isosceles Triangle 20">
              <a:extLst>
                <a:ext uri="{FF2B5EF4-FFF2-40B4-BE49-F238E27FC236}">
                  <a16:creationId xmlns:a16="http://schemas.microsoft.com/office/drawing/2014/main" id="{A53A7A96-3806-4BB3-91DE-6EED48AC78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2" name="Isosceles Triangle 21">
              <a:extLst>
                <a:ext uri="{FF2B5EF4-FFF2-40B4-BE49-F238E27FC236}">
                  <a16:creationId xmlns:a16="http://schemas.microsoft.com/office/drawing/2014/main" id="{F8C2B86C-EE71-466E-8991-503F9C9C1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sp>
        <p:nvSpPr>
          <p:cNvPr id="2" name="Title 1">
            <a:extLst>
              <a:ext uri="{FF2B5EF4-FFF2-40B4-BE49-F238E27FC236}">
                <a16:creationId xmlns:a16="http://schemas.microsoft.com/office/drawing/2014/main" id="{C4C56BC2-9374-E211-B3D2-3202703E187D}"/>
              </a:ext>
            </a:extLst>
          </p:cNvPr>
          <p:cNvSpPr>
            <a:spLocks noGrp="1"/>
          </p:cNvSpPr>
          <p:nvPr>
            <p:ph type="title"/>
          </p:nvPr>
        </p:nvSpPr>
        <p:spPr>
          <a:xfrm>
            <a:off x="861756" y="289192"/>
            <a:ext cx="8288035" cy="1095059"/>
          </a:xfrm>
        </p:spPr>
        <p:txBody>
          <a:bodyPr vert="horz" lIns="91440" tIns="45720" rIns="91440" bIns="45720" rtlCol="0" anchor="b">
            <a:normAutofit fontScale="90000"/>
          </a:bodyPr>
          <a:lstStyle/>
          <a:p>
            <a:pPr>
              <a:lnSpc>
                <a:spcPct val="90000"/>
              </a:lnSpc>
            </a:pPr>
            <a:r>
              <a:rPr lang="en-US" sz="3200"/>
              <a:t>Leftmost most accurate dataset</a:t>
            </a:r>
            <a:br>
              <a:rPr lang="en-US" sz="3200"/>
            </a:br>
            <a:r>
              <a:rPr lang="en-US" sz="3200"/>
              <a:t>80% trained 20% testing</a:t>
            </a:r>
            <a:br>
              <a:rPr lang="en-US" sz="2300"/>
            </a:br>
            <a:endParaRPr lang="en-US" sz="2300"/>
          </a:p>
        </p:txBody>
      </p:sp>
      <p:pic>
        <p:nvPicPr>
          <p:cNvPr id="7" name="Picture 6" descr="A screenshot of a computer&#10;&#10;AI-generated content may be incorrect.">
            <a:extLst>
              <a:ext uri="{FF2B5EF4-FFF2-40B4-BE49-F238E27FC236}">
                <a16:creationId xmlns:a16="http://schemas.microsoft.com/office/drawing/2014/main" id="{F5256998-E86B-09D8-8794-BF27E8836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89" y="1191846"/>
            <a:ext cx="3550919" cy="4852573"/>
          </a:xfrm>
          <a:prstGeom prst="rect">
            <a:avLst/>
          </a:prstGeom>
        </p:spPr>
      </p:pic>
      <p:pic>
        <p:nvPicPr>
          <p:cNvPr id="8" name="Content Placeholder 7" descr="A graph of a line&#10;&#10;AI-generated content may be incorrect.">
            <a:extLst>
              <a:ext uri="{FF2B5EF4-FFF2-40B4-BE49-F238E27FC236}">
                <a16:creationId xmlns:a16="http://schemas.microsoft.com/office/drawing/2014/main" id="{40A790E3-9383-BB09-9265-DDA8ABD0229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12208" y="1852289"/>
            <a:ext cx="8596312" cy="3566703"/>
          </a:xfrm>
        </p:spPr>
      </p:pic>
    </p:spTree>
    <p:extLst>
      <p:ext uri="{BB962C8B-B14F-4D97-AF65-F5344CB8AC3E}">
        <p14:creationId xmlns:p14="http://schemas.microsoft.com/office/powerpoint/2010/main" val="43193628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4EAE7-85DF-BD81-DFD9-6652200C67D5}"/>
              </a:ext>
            </a:extLst>
          </p:cNvPr>
          <p:cNvSpPr>
            <a:spLocks noGrp="1"/>
          </p:cNvSpPr>
          <p:nvPr>
            <p:ph type="title"/>
          </p:nvPr>
        </p:nvSpPr>
        <p:spPr>
          <a:xfrm>
            <a:off x="677334" y="609600"/>
            <a:ext cx="8596668" cy="1320800"/>
          </a:xfrm>
        </p:spPr>
        <p:txBody>
          <a:bodyPr vert="horz" lIns="91440" tIns="45720" rIns="91440" bIns="45720" rtlCol="0">
            <a:normAutofit/>
          </a:bodyPr>
          <a:lstStyle/>
          <a:p>
            <a:pPr algn="ctr"/>
            <a:r>
              <a:rPr lang="en-US" dirty="0"/>
              <a:t>Middle medium accurate dataset</a:t>
            </a:r>
            <a:br>
              <a:rPr lang="en-US" dirty="0"/>
            </a:br>
            <a:r>
              <a:rPr lang="en-US" dirty="0"/>
              <a:t>70% trained 30% testing</a:t>
            </a:r>
          </a:p>
        </p:txBody>
      </p:sp>
      <p:pic>
        <p:nvPicPr>
          <p:cNvPr id="7" name="Picture 6" descr="A screenshot of a computer&#10;&#10;AI-generated content may be incorrect.">
            <a:extLst>
              <a:ext uri="{FF2B5EF4-FFF2-40B4-BE49-F238E27FC236}">
                <a16:creationId xmlns:a16="http://schemas.microsoft.com/office/drawing/2014/main" id="{39C5A20E-DA54-A660-852A-F7F9AE91F4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88" y="1875761"/>
            <a:ext cx="3982552" cy="4165601"/>
          </a:xfrm>
          <a:prstGeom prst="rect">
            <a:avLst/>
          </a:prstGeom>
        </p:spPr>
      </p:pic>
      <p:sp>
        <p:nvSpPr>
          <p:cNvPr id="26" name="Content Placeholder 25">
            <a:extLst>
              <a:ext uri="{FF2B5EF4-FFF2-40B4-BE49-F238E27FC236}">
                <a16:creationId xmlns:a16="http://schemas.microsoft.com/office/drawing/2014/main" id="{82EC60BB-C142-BDA1-5CBE-55F04789B207}"/>
              </a:ext>
            </a:extLst>
          </p:cNvPr>
          <p:cNvSpPr>
            <a:spLocks noGrp="1"/>
          </p:cNvSpPr>
          <p:nvPr>
            <p:ph idx="1"/>
          </p:nvPr>
        </p:nvSpPr>
        <p:spPr>
          <a:xfrm>
            <a:off x="6329363" y="2160589"/>
            <a:ext cx="2944638" cy="3880773"/>
          </a:xfrm>
        </p:spPr>
        <p:txBody>
          <a:bodyPr>
            <a:normAutofit/>
          </a:bodyPr>
          <a:lstStyle/>
          <a:p>
            <a:endParaRPr lang="en-US" sz="1500"/>
          </a:p>
        </p:txBody>
      </p:sp>
      <p:pic>
        <p:nvPicPr>
          <p:cNvPr id="8" name="Content Placeholder 7" descr="A graph of a graph&#10;&#10;AI-generated content may be incorrect.">
            <a:extLst>
              <a:ext uri="{FF2B5EF4-FFF2-40B4-BE49-F238E27FC236}">
                <a16:creationId xmlns:a16="http://schemas.microsoft.com/office/drawing/2014/main" id="{0C7CC003-207F-6DF8-A9DF-B0A97478C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5416" y="2719756"/>
            <a:ext cx="8268398" cy="3018510"/>
          </a:xfrm>
          <a:prstGeom prst="rect">
            <a:avLst/>
          </a:prstGeom>
        </p:spPr>
      </p:pic>
    </p:spTree>
    <p:extLst>
      <p:ext uri="{BB962C8B-B14F-4D97-AF65-F5344CB8AC3E}">
        <p14:creationId xmlns:p14="http://schemas.microsoft.com/office/powerpoint/2010/main" val="263794225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7421D-E4B2-52B9-4F15-7BA979970B23}"/>
              </a:ext>
            </a:extLst>
          </p:cNvPr>
          <p:cNvSpPr>
            <a:spLocks noGrp="1"/>
          </p:cNvSpPr>
          <p:nvPr>
            <p:ph type="title"/>
          </p:nvPr>
        </p:nvSpPr>
        <p:spPr>
          <a:xfrm>
            <a:off x="677334" y="609600"/>
            <a:ext cx="8596668" cy="1320800"/>
          </a:xfrm>
        </p:spPr>
        <p:txBody>
          <a:bodyPr vert="horz" lIns="91440" tIns="45720" rIns="91440" bIns="45720" rtlCol="0">
            <a:normAutofit/>
          </a:bodyPr>
          <a:lstStyle/>
          <a:p>
            <a:pPr algn="r"/>
            <a:r>
              <a:rPr lang="en-US" dirty="0"/>
              <a:t>Rightmost least accurate dataset</a:t>
            </a:r>
            <a:br>
              <a:rPr lang="en-US" dirty="0"/>
            </a:br>
            <a:r>
              <a:rPr lang="en-US" dirty="0"/>
              <a:t>60% trained 40% testing</a:t>
            </a:r>
          </a:p>
        </p:txBody>
      </p:sp>
      <p:pic>
        <p:nvPicPr>
          <p:cNvPr id="7" name="Picture 6" descr="A screenshot of a computer&#10;&#10;AI-generated content may be incorrect.">
            <a:extLst>
              <a:ext uri="{FF2B5EF4-FFF2-40B4-BE49-F238E27FC236}">
                <a16:creationId xmlns:a16="http://schemas.microsoft.com/office/drawing/2014/main" id="{E03D6F7D-0C62-5439-DCF2-28B22A1225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975" y="2160589"/>
            <a:ext cx="4761342" cy="3984572"/>
          </a:xfrm>
          <a:prstGeom prst="rect">
            <a:avLst/>
          </a:prstGeom>
        </p:spPr>
      </p:pic>
      <p:sp>
        <p:nvSpPr>
          <p:cNvPr id="77" name="Content Placeholder 76">
            <a:extLst>
              <a:ext uri="{FF2B5EF4-FFF2-40B4-BE49-F238E27FC236}">
                <a16:creationId xmlns:a16="http://schemas.microsoft.com/office/drawing/2014/main" id="{F4F778C2-B8C8-D922-3453-534593932962}"/>
              </a:ext>
            </a:extLst>
          </p:cNvPr>
          <p:cNvSpPr>
            <a:spLocks noGrp="1"/>
          </p:cNvSpPr>
          <p:nvPr>
            <p:ph idx="1"/>
          </p:nvPr>
        </p:nvSpPr>
        <p:spPr>
          <a:xfrm>
            <a:off x="6329363" y="2160589"/>
            <a:ext cx="2944638" cy="3880773"/>
          </a:xfrm>
        </p:spPr>
        <p:txBody>
          <a:bodyPr>
            <a:normAutofit/>
          </a:bodyPr>
          <a:lstStyle/>
          <a:p>
            <a:endParaRPr lang="en-US" sz="1500"/>
          </a:p>
        </p:txBody>
      </p:sp>
      <p:pic>
        <p:nvPicPr>
          <p:cNvPr id="8" name="Content Placeholder 7" descr="A graph with text on it&#10;&#10;AI-generated content may be incorrect.">
            <a:extLst>
              <a:ext uri="{FF2B5EF4-FFF2-40B4-BE49-F238E27FC236}">
                <a16:creationId xmlns:a16="http://schemas.microsoft.com/office/drawing/2014/main" id="{97A95433-97B7-67F8-9902-A58F48F595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0317" y="2160589"/>
            <a:ext cx="6751244" cy="2700498"/>
          </a:xfrm>
          <a:prstGeom prst="rect">
            <a:avLst/>
          </a:prstGeom>
        </p:spPr>
      </p:pic>
    </p:spTree>
    <p:extLst>
      <p:ext uri="{BB962C8B-B14F-4D97-AF65-F5344CB8AC3E}">
        <p14:creationId xmlns:p14="http://schemas.microsoft.com/office/powerpoint/2010/main" val="3001758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C50B2-FD3F-E76F-BBA9-A944D922FA26}"/>
              </a:ext>
            </a:extLst>
          </p:cNvPr>
          <p:cNvSpPr>
            <a:spLocks noGrp="1"/>
          </p:cNvSpPr>
          <p:nvPr>
            <p:ph type="title"/>
          </p:nvPr>
        </p:nvSpPr>
        <p:spPr>
          <a:xfrm>
            <a:off x="677334" y="156238"/>
            <a:ext cx="8596668" cy="1320800"/>
          </a:xfrm>
        </p:spPr>
        <p:txBody>
          <a:bodyPr/>
          <a:lstStyle/>
          <a:p>
            <a:r>
              <a:rPr lang="en-US"/>
              <a:t>Explanation</a:t>
            </a:r>
            <a:endParaRPr lang="en-SG"/>
          </a:p>
        </p:txBody>
      </p:sp>
      <p:sp>
        <p:nvSpPr>
          <p:cNvPr id="3" name="Content Placeholder 2">
            <a:extLst>
              <a:ext uri="{FF2B5EF4-FFF2-40B4-BE49-F238E27FC236}">
                <a16:creationId xmlns:a16="http://schemas.microsoft.com/office/drawing/2014/main" id="{87A584B3-60AB-26F8-D151-807B296081BE}"/>
              </a:ext>
            </a:extLst>
          </p:cNvPr>
          <p:cNvSpPr>
            <a:spLocks noGrp="1"/>
          </p:cNvSpPr>
          <p:nvPr>
            <p:ph idx="1"/>
          </p:nvPr>
        </p:nvSpPr>
        <p:spPr>
          <a:xfrm>
            <a:off x="677334" y="660400"/>
            <a:ext cx="8596668" cy="6041362"/>
          </a:xfrm>
        </p:spPr>
        <p:txBody>
          <a:bodyPr>
            <a:normAutofit/>
          </a:bodyPr>
          <a:lstStyle/>
          <a:p>
            <a:pPr marL="0" indent="0">
              <a:buNone/>
            </a:pPr>
            <a:r>
              <a:rPr lang="en-US" b="1" dirty="0"/>
              <a:t>Explain the rationale behind how training and test datasets are divided</a:t>
            </a:r>
            <a:r>
              <a:rPr lang="en-US" dirty="0"/>
              <a:t>.</a:t>
            </a:r>
            <a:endParaRPr lang="en-US" sz="1600" dirty="0"/>
          </a:p>
          <a:p>
            <a:pPr lvl="1"/>
            <a:r>
              <a:rPr lang="en-US" sz="1200" dirty="0"/>
              <a:t>Its about ensuring </a:t>
            </a:r>
            <a:r>
              <a:rPr lang="en-US" sz="1200" b="1" dirty="0"/>
              <a:t>generalization</a:t>
            </a:r>
            <a:r>
              <a:rPr lang="en-US" sz="1200" dirty="0"/>
              <a:t> and </a:t>
            </a:r>
            <a:r>
              <a:rPr lang="en-US" sz="1200" b="1" dirty="0"/>
              <a:t>fair evaluation</a:t>
            </a:r>
            <a:r>
              <a:rPr lang="en-US" sz="1200" dirty="0"/>
              <a:t>.</a:t>
            </a:r>
          </a:p>
          <a:p>
            <a:pPr lvl="1"/>
            <a:r>
              <a:rPr lang="en-US" altLang="en-US" sz="1200" b="1" dirty="0">
                <a:solidFill>
                  <a:schemeClr val="tx1"/>
                </a:solidFill>
                <a:latin typeface="Arial" panose="020B0604020202020204" pitchFamily="34" charset="0"/>
              </a:rPr>
              <a:t>Unbiased Evaluation</a:t>
            </a:r>
            <a:r>
              <a:rPr lang="en-US" altLang="en-US" sz="1200" dirty="0">
                <a:solidFill>
                  <a:schemeClr val="tx1"/>
                </a:solidFill>
                <a:latin typeface="Arial" panose="020B0604020202020204" pitchFamily="34" charset="0"/>
              </a:rPr>
              <a:t>: The test set acts like a proxy for future data. It must be untouched during training to give a realistic measure of performance. </a:t>
            </a:r>
          </a:p>
          <a:p>
            <a:pPr lvl="1"/>
            <a:r>
              <a:rPr lang="en-US" altLang="en-US" sz="1200" b="1" dirty="0">
                <a:solidFill>
                  <a:schemeClr val="tx1"/>
                </a:solidFill>
                <a:latin typeface="Arial" panose="020B0604020202020204" pitchFamily="34" charset="0"/>
              </a:rPr>
              <a:t>Avoid Data Leakage: </a:t>
            </a:r>
            <a:r>
              <a:rPr lang="en-US" altLang="en-US" sz="1200" dirty="0">
                <a:solidFill>
                  <a:schemeClr val="tx1"/>
                </a:solidFill>
                <a:latin typeface="Arial" panose="020B0604020202020204" pitchFamily="34" charset="0"/>
              </a:rPr>
              <a:t>If information from the test set sneaks into training, it contaminates the evaluation. This is especially critical in medical diagnostics where false confidence can have serious consequences</a:t>
            </a:r>
          </a:p>
          <a:p>
            <a:pPr lvl="1"/>
            <a:r>
              <a:rPr lang="en-US" altLang="en-US" sz="1200" b="1" dirty="0">
                <a:solidFill>
                  <a:schemeClr val="tx1"/>
                </a:solidFill>
                <a:latin typeface="Arial" panose="020B0604020202020204" pitchFamily="34" charset="0"/>
              </a:rPr>
              <a:t>Representative Sampling: </a:t>
            </a:r>
            <a:r>
              <a:rPr lang="en-US" altLang="en-US" sz="1200" dirty="0">
                <a:solidFill>
                  <a:schemeClr val="tx1"/>
                </a:solidFill>
                <a:latin typeface="Arial" panose="020B0604020202020204" pitchFamily="34" charset="0"/>
              </a:rPr>
              <a:t>Both sets should reflect the same distribution (e.g., similar proportions of benign vs malignant cases) to avoid skewed results.</a:t>
            </a:r>
            <a:endParaRPr lang="en-US" sz="1200" dirty="0"/>
          </a:p>
          <a:p>
            <a:pPr marL="0" indent="0">
              <a:buNone/>
            </a:pPr>
            <a:r>
              <a:rPr lang="en-US" b="1" dirty="0"/>
              <a:t>Explain your findings from the prediction.</a:t>
            </a:r>
          </a:p>
          <a:p>
            <a:pPr lvl="1" defTabSz="914400" eaLnBrk="0" fontAlgn="base" hangingPunct="0">
              <a:spcBef>
                <a:spcPct val="0"/>
              </a:spcBef>
              <a:spcAft>
                <a:spcPct val="0"/>
              </a:spcAft>
              <a:buClrTx/>
              <a:buSzTx/>
            </a:pPr>
            <a:r>
              <a:rPr lang="en-US" altLang="en-US" sz="1200" b="1" dirty="0">
                <a:solidFill>
                  <a:schemeClr val="tx1"/>
                </a:solidFill>
                <a:latin typeface="Arial" panose="020B0604020202020204" pitchFamily="34" charset="0"/>
              </a:rPr>
              <a:t>False Negatives</a:t>
            </a:r>
            <a:r>
              <a:rPr lang="en-US" altLang="en-US" sz="1200" dirty="0">
                <a:solidFill>
                  <a:schemeClr val="tx1"/>
                </a:solidFill>
                <a:latin typeface="Arial" panose="020B0604020202020204" pitchFamily="34" charset="0"/>
              </a:rPr>
              <a:t> (malignant predicted as benign) are present. These are the most dangerous errors in this context. </a:t>
            </a:r>
          </a:p>
          <a:p>
            <a:pPr lvl="1" defTabSz="914400" eaLnBrk="0" fontAlgn="base" hangingPunct="0">
              <a:spcBef>
                <a:spcPct val="0"/>
              </a:spcBef>
              <a:spcAft>
                <a:spcPct val="0"/>
              </a:spcAft>
              <a:buClrTx/>
              <a:buSzTx/>
            </a:pPr>
            <a:r>
              <a:rPr lang="en-US" altLang="en-US" sz="1200" b="1" dirty="0">
                <a:solidFill>
                  <a:schemeClr val="tx1"/>
                </a:solidFill>
                <a:latin typeface="Arial" panose="020B0604020202020204" pitchFamily="34" charset="0"/>
              </a:rPr>
              <a:t>Probability clustering</a:t>
            </a:r>
            <a:r>
              <a:rPr lang="en-US" altLang="en-US" sz="1200" dirty="0">
                <a:solidFill>
                  <a:schemeClr val="tx1"/>
                </a:solidFill>
                <a:latin typeface="Arial" panose="020B0604020202020204" pitchFamily="34" charset="0"/>
              </a:rPr>
              <a:t> around 0.369 might suggest the model isn’t well-calibrated or is overconfident in certain regions. </a:t>
            </a:r>
          </a:p>
          <a:p>
            <a:pPr lvl="1" defTabSz="914400" eaLnBrk="0" fontAlgn="base" hangingPunct="0">
              <a:spcBef>
                <a:spcPct val="0"/>
              </a:spcBef>
              <a:spcAft>
                <a:spcPct val="0"/>
              </a:spcAft>
              <a:buClrTx/>
              <a:buSzTx/>
            </a:pPr>
            <a:r>
              <a:rPr lang="en-US" altLang="en-US" sz="1200" b="1" dirty="0">
                <a:solidFill>
                  <a:schemeClr val="tx1"/>
                </a:solidFill>
                <a:latin typeface="Arial" panose="020B0604020202020204" pitchFamily="34" charset="0"/>
              </a:rPr>
              <a:t>Model performance is promising</a:t>
            </a:r>
            <a:r>
              <a:rPr lang="en-US" altLang="en-US" sz="1200" dirty="0">
                <a:solidFill>
                  <a:schemeClr val="tx1"/>
                </a:solidFill>
                <a:latin typeface="Arial" panose="020B0604020202020204" pitchFamily="34" charset="0"/>
              </a:rPr>
              <a:t>, but further tuning (e.g. threshold adjustment, calibration, or cost-sensitive learning) could reduce critical errors. </a:t>
            </a:r>
            <a:endParaRPr lang="en-US" b="1" dirty="0"/>
          </a:p>
          <a:p>
            <a:pPr marL="0" indent="0">
              <a:buNone/>
            </a:pPr>
            <a:r>
              <a:rPr lang="en-US" b="1" dirty="0"/>
              <a:t>Explain your findings from the model's performance.</a:t>
            </a:r>
          </a:p>
          <a:p>
            <a:r>
              <a:rPr lang="en-US" altLang="en-US" sz="1300" dirty="0">
                <a:solidFill>
                  <a:schemeClr val="tx1"/>
                </a:solidFill>
                <a:latin typeface="Arial" panose="020B0604020202020204" pitchFamily="34" charset="0"/>
              </a:rPr>
              <a:t>Scored dataset most predictions for benign cases </a:t>
            </a:r>
            <a:r>
              <a:rPr lang="en-US" altLang="en-US" sz="1300" dirty="0">
                <a:solidFill>
                  <a:schemeClr val="tx1"/>
                </a:solidFill>
                <a:latin typeface="Arial" panose="020B0604020202020204" pitchFamily="34" charset="0"/>
                <a:cs typeface="Arial" panose="020B0604020202020204" pitchFamily="34" charset="0"/>
              </a:rPr>
              <a:t>are correctly labeled as benign with probabilities around</a:t>
            </a:r>
            <a:r>
              <a:rPr lang="en-US" altLang="en-US" sz="1300" dirty="0">
                <a:solidFill>
                  <a:schemeClr val="tx1"/>
                </a:solidFill>
              </a:rPr>
              <a:t> </a:t>
            </a:r>
            <a:r>
              <a:rPr lang="en-US" altLang="en-US" sz="1300" dirty="0">
                <a:solidFill>
                  <a:schemeClr val="tx1"/>
                </a:solidFill>
                <a:latin typeface="Arial" panose="020B0604020202020204" pitchFamily="34" charset="0"/>
              </a:rPr>
              <a:t>0.369.</a:t>
            </a:r>
          </a:p>
          <a:p>
            <a:r>
              <a:rPr lang="en-US" altLang="en-US" sz="1400" dirty="0">
                <a:solidFill>
                  <a:schemeClr val="tx1"/>
                </a:solidFill>
                <a:latin typeface="Arial" panose="020B0604020202020204" pitchFamily="34" charset="0"/>
              </a:rPr>
              <a:t>The ROC curve rises steeply from the origin, which is a good sign, it means the model has a high</a:t>
            </a:r>
            <a:r>
              <a:rPr lang="en-US" altLang="en-US" sz="1400" b="1" dirty="0">
                <a:solidFill>
                  <a:schemeClr val="tx1"/>
                </a:solidFill>
                <a:latin typeface="Arial" panose="020B0604020202020204" pitchFamily="34" charset="0"/>
              </a:rPr>
              <a:t> </a:t>
            </a:r>
            <a:r>
              <a:rPr lang="en-US" altLang="en-US" sz="1400" dirty="0">
                <a:solidFill>
                  <a:schemeClr val="tx1"/>
                </a:solidFill>
                <a:latin typeface="Arial" panose="020B0604020202020204" pitchFamily="34" charset="0"/>
              </a:rPr>
              <a:t>true positive rate and a low false positive rate across thresholds</a:t>
            </a:r>
          </a:p>
          <a:p>
            <a:r>
              <a:rPr lang="en-US" altLang="en-US" sz="1400" dirty="0">
                <a:solidFill>
                  <a:schemeClr val="tx1"/>
                </a:solidFill>
                <a:latin typeface="Arial" panose="020B0604020202020204" pitchFamily="34" charset="0"/>
              </a:rPr>
              <a:t>The Precision Recall curve starts with high precision but drops sharply as recall increases.</a:t>
            </a:r>
          </a:p>
          <a:p>
            <a:r>
              <a:rPr lang="en-US" altLang="en-US" sz="1400" dirty="0">
                <a:solidFill>
                  <a:schemeClr val="tx1"/>
                </a:solidFill>
                <a:latin typeface="Arial" panose="020B0604020202020204" pitchFamily="34" charset="0"/>
              </a:rPr>
              <a:t>The Lift curve shows that the model performs better than random guessing, especially in the early percentiles.</a:t>
            </a:r>
          </a:p>
          <a:p>
            <a:endParaRPr lang="en-US" altLang="en-US" sz="1400" dirty="0">
              <a:solidFill>
                <a:schemeClr val="tx1"/>
              </a:solidFill>
              <a:latin typeface="Arial" panose="020B0604020202020204" pitchFamily="34" charset="0"/>
            </a:endParaRPr>
          </a:p>
          <a:p>
            <a:endParaRPr lang="en-US" altLang="en-US" sz="1300" dirty="0">
              <a:solidFill>
                <a:schemeClr val="tx1"/>
              </a:solidFill>
              <a:latin typeface="Arial" panose="020B0604020202020204" pitchFamily="34" charset="0"/>
            </a:endParaRPr>
          </a:p>
          <a:p>
            <a:pPr marL="0" indent="0">
              <a:buNone/>
            </a:pPr>
            <a:endParaRPr lang="en-US" b="1" dirty="0"/>
          </a:p>
          <a:p>
            <a:pPr marL="0" indent="0">
              <a:buNone/>
            </a:pPr>
            <a:endParaRPr lang="en-US" b="1" dirty="0"/>
          </a:p>
        </p:txBody>
      </p:sp>
    </p:spTree>
    <p:extLst>
      <p:ext uri="{BB962C8B-B14F-4D97-AF65-F5344CB8AC3E}">
        <p14:creationId xmlns:p14="http://schemas.microsoft.com/office/powerpoint/2010/main" val="258416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A44D-427D-9599-81AC-C344513ADFE4}"/>
              </a:ext>
            </a:extLst>
          </p:cNvPr>
          <p:cNvSpPr>
            <a:spLocks noGrp="1"/>
          </p:cNvSpPr>
          <p:nvPr>
            <p:ph type="title"/>
          </p:nvPr>
        </p:nvSpPr>
        <p:spPr>
          <a:xfrm>
            <a:off x="1212793" y="578708"/>
            <a:ext cx="8596668" cy="691426"/>
          </a:xfrm>
        </p:spPr>
        <p:txBody>
          <a:bodyPr/>
          <a:lstStyle/>
          <a:p>
            <a:pPr algn="ctr"/>
            <a:r>
              <a:rPr lang="en-US"/>
              <a:t>Summary</a:t>
            </a:r>
            <a:endParaRPr lang="en-SG"/>
          </a:p>
        </p:txBody>
      </p:sp>
      <p:sp>
        <p:nvSpPr>
          <p:cNvPr id="3" name="TextBox 2">
            <a:extLst>
              <a:ext uri="{FF2B5EF4-FFF2-40B4-BE49-F238E27FC236}">
                <a16:creationId xmlns:a16="http://schemas.microsoft.com/office/drawing/2014/main" id="{1FA231B6-3FC5-E33C-8B68-980223ABE0E6}"/>
              </a:ext>
            </a:extLst>
          </p:cNvPr>
          <p:cNvSpPr txBox="1"/>
          <p:nvPr/>
        </p:nvSpPr>
        <p:spPr>
          <a:xfrm>
            <a:off x="141149" y="1515817"/>
            <a:ext cx="11893337" cy="1754326"/>
          </a:xfrm>
          <a:prstGeom prst="rect">
            <a:avLst/>
          </a:prstGeom>
          <a:noFill/>
        </p:spPr>
        <p:txBody>
          <a:bodyPr wrap="square" rtlCol="0">
            <a:spAutoFit/>
          </a:bodyPr>
          <a:lstStyle/>
          <a:p>
            <a:r>
              <a:rPr lang="en-US"/>
              <a:t>We have shown you the:</a:t>
            </a:r>
          </a:p>
          <a:p>
            <a:pPr marL="285750" indent="-285750">
              <a:buFont typeface="Arial" panose="020B0604020202020204" pitchFamily="34" charset="0"/>
              <a:buChar char="•"/>
            </a:pPr>
            <a:r>
              <a:rPr lang="en-US"/>
              <a:t>Pipeline</a:t>
            </a:r>
          </a:p>
          <a:p>
            <a:pPr marL="285750" indent="-285750">
              <a:buFont typeface="Arial" panose="020B0604020202020204" pitchFamily="34" charset="0"/>
              <a:buChar char="•"/>
            </a:pPr>
            <a:r>
              <a:rPr lang="en-US"/>
              <a:t>Evaluation</a:t>
            </a:r>
          </a:p>
          <a:p>
            <a:pPr marL="285750" indent="-285750">
              <a:buFont typeface="Arial" panose="020B0604020202020204" pitchFamily="34" charset="0"/>
              <a:buChar char="•"/>
            </a:pPr>
            <a:r>
              <a:rPr lang="en-US"/>
              <a:t>The most accurate results of the pipeline</a:t>
            </a:r>
          </a:p>
          <a:p>
            <a:pPr marL="285750" indent="-285750">
              <a:buFont typeface="Arial" panose="020B0604020202020204" pitchFamily="34" charset="0"/>
              <a:buChar char="•"/>
            </a:pPr>
            <a:r>
              <a:rPr lang="en-US"/>
              <a:t>The medium accurate results of the pipeline</a:t>
            </a:r>
          </a:p>
          <a:p>
            <a:pPr marL="285750" indent="-285750">
              <a:buFont typeface="Arial" panose="020B0604020202020204" pitchFamily="34" charset="0"/>
              <a:buChar char="•"/>
            </a:pPr>
            <a:r>
              <a:rPr lang="en-US"/>
              <a:t>The least accurate results of the pipeline</a:t>
            </a:r>
          </a:p>
        </p:txBody>
      </p:sp>
    </p:spTree>
    <p:extLst>
      <p:ext uri="{BB962C8B-B14F-4D97-AF65-F5344CB8AC3E}">
        <p14:creationId xmlns:p14="http://schemas.microsoft.com/office/powerpoint/2010/main" val="2960435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70216-E335-A340-96B5-35625A752B5F}"/>
              </a:ext>
            </a:extLst>
          </p:cNvPr>
          <p:cNvSpPr>
            <a:spLocks noGrp="1"/>
          </p:cNvSpPr>
          <p:nvPr>
            <p:ph type="title"/>
          </p:nvPr>
        </p:nvSpPr>
        <p:spPr/>
        <p:txBody>
          <a:bodyPr/>
          <a:lstStyle/>
          <a:p>
            <a:r>
              <a:rPr lang="en-US"/>
              <a:t>Who did what?</a:t>
            </a:r>
            <a:endParaRPr lang="en-SG"/>
          </a:p>
        </p:txBody>
      </p:sp>
      <p:sp>
        <p:nvSpPr>
          <p:cNvPr id="3" name="Content Placeholder 2">
            <a:extLst>
              <a:ext uri="{FF2B5EF4-FFF2-40B4-BE49-F238E27FC236}">
                <a16:creationId xmlns:a16="http://schemas.microsoft.com/office/drawing/2014/main" id="{569A1998-C7BB-30D5-ED15-B171134499A9}"/>
              </a:ext>
            </a:extLst>
          </p:cNvPr>
          <p:cNvSpPr>
            <a:spLocks noGrp="1"/>
          </p:cNvSpPr>
          <p:nvPr>
            <p:ph idx="1"/>
          </p:nvPr>
        </p:nvSpPr>
        <p:spPr/>
        <p:txBody>
          <a:bodyPr/>
          <a:lstStyle/>
          <a:p>
            <a:r>
              <a:rPr lang="en-US"/>
              <a:t>Rahman: Slides / Explanation of each pipeline module</a:t>
            </a:r>
          </a:p>
          <a:p>
            <a:r>
              <a:rPr lang="en-US" err="1"/>
              <a:t>Kiat</a:t>
            </a:r>
            <a:r>
              <a:rPr lang="en-US"/>
              <a:t> Boon: Pipeline / Screenshots of the pipeline / Explanation</a:t>
            </a:r>
          </a:p>
          <a:p>
            <a:r>
              <a:rPr lang="en-US"/>
              <a:t>Jaryl: Slides</a:t>
            </a:r>
          </a:p>
          <a:p>
            <a:r>
              <a:rPr lang="en-US"/>
              <a:t>Yan Ruey: Slides </a:t>
            </a:r>
            <a:endParaRPr lang="en-SG"/>
          </a:p>
        </p:txBody>
      </p:sp>
    </p:spTree>
    <p:extLst>
      <p:ext uri="{BB962C8B-B14F-4D97-AF65-F5344CB8AC3E}">
        <p14:creationId xmlns:p14="http://schemas.microsoft.com/office/powerpoint/2010/main" val="2557149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D8A7D-9097-7B99-B1BA-392C0FA3DF68}"/>
              </a:ext>
            </a:extLst>
          </p:cNvPr>
          <p:cNvSpPr>
            <a:spLocks noGrp="1"/>
          </p:cNvSpPr>
          <p:nvPr>
            <p:ph type="ctrTitle"/>
          </p:nvPr>
        </p:nvSpPr>
        <p:spPr>
          <a:xfrm>
            <a:off x="1743905" y="1096777"/>
            <a:ext cx="7766936" cy="1234410"/>
          </a:xfrm>
        </p:spPr>
        <p:txBody>
          <a:bodyPr/>
          <a:lstStyle/>
          <a:p>
            <a:r>
              <a:rPr lang="en-US"/>
              <a:t>Thank you for listening!!</a:t>
            </a:r>
          </a:p>
        </p:txBody>
      </p:sp>
      <p:sp>
        <p:nvSpPr>
          <p:cNvPr id="3" name="Subtitle 2">
            <a:extLst>
              <a:ext uri="{FF2B5EF4-FFF2-40B4-BE49-F238E27FC236}">
                <a16:creationId xmlns:a16="http://schemas.microsoft.com/office/drawing/2014/main" id="{9D4602C6-88EB-EC6B-CFDA-15BC28A1E353}"/>
              </a:ext>
            </a:extLst>
          </p:cNvPr>
          <p:cNvSpPr>
            <a:spLocks noGrp="1"/>
          </p:cNvSpPr>
          <p:nvPr>
            <p:ph type="subTitle" idx="1"/>
          </p:nvPr>
        </p:nvSpPr>
        <p:spPr>
          <a:xfrm>
            <a:off x="827446" y="3432995"/>
            <a:ext cx="9599853" cy="1096899"/>
          </a:xfrm>
        </p:spPr>
        <p:txBody>
          <a:bodyPr>
            <a:noAutofit/>
          </a:bodyPr>
          <a:lstStyle/>
          <a:p>
            <a:r>
              <a:rPr lang="en-US" sz="2800">
                <a:solidFill>
                  <a:schemeClr val="tx1"/>
                </a:solidFill>
              </a:rPr>
              <a:t>We hope you enjoy learning and gain experience on this presentation. We sincerely appreciate your attention!!</a:t>
            </a:r>
          </a:p>
        </p:txBody>
      </p:sp>
    </p:spTree>
    <p:extLst>
      <p:ext uri="{BB962C8B-B14F-4D97-AF65-F5344CB8AC3E}">
        <p14:creationId xmlns:p14="http://schemas.microsoft.com/office/powerpoint/2010/main" val="190531980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50</TotalTime>
  <Words>1068</Words>
  <Application>Microsoft Office PowerPoint</Application>
  <PresentationFormat>Widescreen</PresentationFormat>
  <Paragraphs>83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Facet</vt:lpstr>
      <vt:lpstr>C4AI Presentation</vt:lpstr>
      <vt:lpstr>Tables of Contents:</vt:lpstr>
      <vt:lpstr>What to expect from this presentation?</vt:lpstr>
      <vt:lpstr>What our pipeline looks like?</vt:lpstr>
      <vt:lpstr>PowerPoint Presentation</vt:lpstr>
      <vt:lpstr>PowerPoint Presentation</vt:lpstr>
      <vt:lpstr>PowerPoint Presentation</vt:lpstr>
      <vt:lpstr>For the 1st set</vt:lpstr>
      <vt:lpstr>For the 2nd set</vt:lpstr>
      <vt:lpstr>For the 3rd set</vt:lpstr>
      <vt:lpstr>PowerPoint Presentation</vt:lpstr>
      <vt:lpstr>PowerPoint Presentation</vt:lpstr>
      <vt:lpstr>PowerPoint Presentation</vt:lpstr>
      <vt:lpstr>Leftmost most accurate dataset 80% trained 20% testing </vt:lpstr>
      <vt:lpstr>Middle medium accurate dataset 70% trained 30% testing</vt:lpstr>
      <vt:lpstr>Rightmost least accurate dataset 60% trained 40% testing</vt:lpstr>
      <vt:lpstr>Explanation</vt:lpstr>
      <vt:lpstr>Summary</vt:lpstr>
      <vt:lpstr>Who did what?</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RAHMAN BIN MUHAAMAD FAZLI</dc:creator>
  <cp:lastModifiedBy>TAN KIAT BOON (CHEN JIEWEN)</cp:lastModifiedBy>
  <cp:revision>2</cp:revision>
  <dcterms:created xsi:type="dcterms:W3CDTF">2025-08-12T01:02:48Z</dcterms:created>
  <dcterms:modified xsi:type="dcterms:W3CDTF">2026-07-07T06:57:57Z</dcterms:modified>
</cp:coreProperties>
</file>